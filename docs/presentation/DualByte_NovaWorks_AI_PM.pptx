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1af3146-4276-2b9a-cc5c-01e1cd721492}">
          <p14:sldIdLst>
            <p14:sldId id="256"/>
          </p14:sldIdLst>
        </p14:section>
        <p14:section name="Problem and solution" id="{9efd965b-27e7-a6e4-e26c-16fd56de259a}">
          <p14:sldIdLst>
            <p14:sldId id="257"/>
            <p14:sldId id="258"/>
          </p14:sldIdLst>
        </p14:section>
        <p14:section name="Product" id="{6a0b7338-52f1-a806-f21b-5769268d9ae9}">
          <p14:sldIdLst>
            <p14:sldId id="259"/>
            <p14:sldId id="260"/>
            <p14:sldId id="261"/>
            <p14:sldId id="262"/>
            <p14:sldId id="263"/>
            <p14:sldId id="264"/>
          </p14:sldIdLst>
        </p14:section>
        <p14:section name="Technology" id="{df35e51b-1c56-4869-55df-aad48e0a7717}">
          <p14:sldIdLst>
            <p14:sldId id="265"/>
            <p14:sldId id="266"/>
            <p14:sldId id="267"/>
            <p14:sldId id="268"/>
            <p14:sldId id="269"/>
          </p14:sldIdLst>
        </p14:section>
        <p14:section name="Wrap-up" id="{2c1c5054-3c57-27e4-d99c-204c1ce2dfd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172A"/>
                </a:solidFill>
                <a:latin typeface="+mn-lt"/>
              </a:defRPr>
            </a:pPr>
            <a:r>
              <a:rPr sz="1500" b="0" i="0" u="none" strike="noStrike">
                <a:solidFill>
                  <a:srgbClr val="0F172A"/>
                </a:solidFill>
                <a:latin typeface="+mn-lt"/>
              </a:rPr>
              <a:t>Estimated hours per project (4 tasks each)</a:t>
            </a:r>
          </a:p>
        </c:rich>
      </c:tx>
      <c:layout/>
      <c:overlay val="0"/>
    </c:title>
    <c:autoTitleDeleted val="0"/>
    <c:plotArea>
      <c:layout/>
      <c:barChart>
        <c:barDir val="col"/>
        <c:grouping val="clustered"/>
        <c:varyColors val="0"/>
        <c:ser>
          <c:idx val="0"/>
          <c:order val="0"/>
          <c:tx>
            <c:strRef>
              <c:f>Sheet1!$B$1</c:f>
              <c:strCache>
                <c:ptCount val="1"/>
                <c:pt idx="0">
                  <c:v>Estimated hours</c:v>
                </c:pt>
              </c:strCache>
            </c:strRef>
          </c:tx>
          <c:spPr>
            <a:solidFill>
              <a:srgbClr val="4F46E5"/>
            </a:solidFill>
            <a:effectLst/>
          </c:spPr>
          <c:invertIfNegative val="0"/>
          <c:dLbls>
            <c:numFmt formatCode="#,##0" sourceLinked="0"/>
            <c:txPr>
              <a:bodyPr/>
              <a:lstStyle/>
              <a:p>
                <a:pPr>
                  <a:defRPr b="0" i="0" strike="noStrike" sz="14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UrbanCart Website</c:v>
                  </c:pt>
                  <c:pt idx="1">
                    <c:v>QuickServe Mobile App</c:v>
                  </c:pt>
                  <c:pt idx="2">
                    <c:v>HelpDeskPro AI Assistant</c:v>
                  </c:pt>
                </c:lvl>
              </c:multiLvlStrCache>
            </c:multiLvlStrRef>
          </c:cat>
          <c:val>
            <c:numRef>
              <c:f>Sheet1!$B$2:$B$4</c:f>
              <c:numCache>
                <c:formatCode>General</c:formatCode>
                <c:ptCount val="3"/>
                <c:pt idx="0">
                  <c:v>40</c:v>
                </c:pt>
                <c:pt idx="1">
                  <c:v>46</c:v>
                </c:pt>
                <c:pt idx="2">
                  <c:v>38</c:v>
                </c:pt>
              </c:numCache>
            </c:numRef>
          </c:val>
        </c:ser>
        <c:dLbls>
          <c:numFmt formatCode="#,##0" sourceLinked="0"/>
          <c:txPr>
            <a:bodyPr/>
            <a:lstStyle/>
            <a:p>
              <a:pPr>
                <a:defRPr b="0" i="0" strike="noStrike" sz="1400" u="none">
                  <a:solidFill>
                    <a:srgbClr val="0F17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Dual Byte. Our project is an AI project manager for NovaWorks Technologies: the admin pastes a meeting transcript and the app creates the projects, tasks, owners, deadlines and estimates automatically, then shows each person only their own work. It is live at infinity-hackathon.vercel.app.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after a planning meeting, someone has to turn the discussion into projects and tasks. In the supplied meeting that is 12 tasks. It is also tricky: 4 decisions change during the meeting, 5 features are rejected, and a client contact called Kamran is mentioned who is not an employee. A careless plan gets all of these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flow has five steps. The admin pastes the meeting. The AI extracts projects and tasks using our team directory. Our server validates everything. Then it saves everything in one database transaction, or nothing if something is wrong. Finally every user sees only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Create from Transcript page. The admin pastes the meeting or loads the supplied one. On the right you see exactly what we send to the AI: names, roles and skills, never emails or passwords. While it runs, the button is locked so you cannot create duplicates by clicking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used in one place: turning the transcript into structured JSON. We use Groq with the GPT-OSS 120B model at temperature 0. The prompt tells it to use only final decisions, skip rejected features, and never invent people. But we never trust the AI blindly: our code checks the shape, the roles, the dates and the hours, and saves in one transaction. If Groq is rate-limited we wait and retry, and fall back to a second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on the supplied transcript, all 12 tasks match the organizer answer key, and both of our models get 12 out of 12. That includes every trap: the moved deadlines, the revised estimate, the changed owner, Kamran, and the rejected features. Totals are 40, 46 and 38 hours, exactly as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this is real AI conversion and not a fixed answer, we ran the organizers' changed-input test: change the QuickServe integration estimate to 12 hours and the deadline to 23 October. Only that task changes, the QuickServe total becomes 48 hours, and the other 11 tasks stay the same. On the live site this took about 22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is enforced on the server. The admin sees everything. Ayesha, a manager, sees only UrbanCart. Ali, an agent, sees only his three tasks; Hamza sees his two tasks across two projects. The current user always comes from a signed cookie, and the filters run inside the database queries, so even typing another project's URL returns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minimum screens we built a full CRM: the admin dashboard, project detail with tasks, the agent's My Tasks, a Clients section with contact details and notes, a team directory with each person's work, clear access-denied screens, and interactive Swagger API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one Next.js app and one database, but split into layers and modules. Routes are thin, business logic lives in services, all access rules live in policy files, and only repositories talk to the database. The AI sits behind an interface, so Groq can be swapped. To scale we would add a job queue for AI calls, multi-company support and caching, without rewriting.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architecture. Users use the React UI in the browser. Everything runs in one Next.js app on Vercel: pages, API routes, services with access policies, and Prisma repositories. The app talks to two external services: the Groq AI for transcript extraction, and the Aiven PostgreSQL database. Secrets stay on the server; the browser only holds a signed session cookie.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flow. The admin submits the transcript. We load the team directory without passwords and send both to Groq, asking for JSON. If the JSON is invalid or Groq is rate-limited, we wait, retry and fall back to the 20B model. Then our business rules run: roles, hours and dates. If anything fails, the admin gets a list of issues and nothing is saved. Otherwise one database transaction saves the clients, projects and tasks, and each role sees its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API request follows this path. First the signed session cookie is checked; without it you get 401. The user and role come only from that cookie. Then the role filter is applied inside the database query: admin sees everything, a manager only projects they manage, an agent only tasks assigned to them. If the requested project or client is outside that scope, the answer is 403. Otherwise only the allowed data is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has five tables. A user manages projects and is assigned tasks. Each project belongs to a client and contains tasks. Every transcript conversion is stored as a TranscriptRun, which links to the projects it created, so we have an audit log of what the AI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is useful: the admin saves the time of retyping a meeting, the plan follows the final decisions, invalid AI output is never saved, and everyone gets a focused view. With more time we would add a review step before saving, task status and reminders, audio upload with speech-to-text, and integrations with Slack, Google Meet and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SCRIPT (about 4 minutes). Before judging: run npm run db:reset so the dashboard starts empty.
1. Log in as admin@novaworks.example / Demo123!. Show the empty dashboard: no signup needed, accounts are seeded.
2. Create from Transcript → Load supplied meeting transcript → Create. Point out the locked button and the team directory panel.
3. Success: 3 projects, 12 tasks. Open UrbanCart: client UrbanCart Clothing, manager Ayesha, deadline 20 Oct, integration due 19 Oct.
4. Log out, log in as ayesha@: only UrbanCart. Open Clients: only UrbanCart Clothing.
5. Log in as ali@: My Tasks shows his 3 tasks (26 h). Paste a QuickServe project URL: 'You don't have access' (403).
6. Log in as hamza@: 2 tasks across UrbanCart and QuickServe.
7. Refresh: data persists.
8. Optional: changed transcript (QuickServe integration 12 h, 23 Oct) → only that task changes. Optional: /api-docs.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56692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474720"/>
            <a:ext cx="5486400" cy="822960"/>
          </a:xfrm>
          <a:prstGeom prst="rect">
            <a:avLst/>
          </a:prstGeom>
          <a:noFill/>
          <a:ln/>
        </p:spPr>
        <p:txBody>
          <a:bodyPr wrap="square" rtlCol="0"/>
          <a:lstStyle>
            <a:lvl1pPr algn="l" indent="0" marL="0">
              <a:buNone/>
              <a:defRPr lang="en-US" sz="2000" dirty="0">
                <a:solidFill>
                  <a:srgbClr val="C7D2FE"/>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Dual Byte · The Infinity Hack '26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5669280" cy="1737360"/>
          </a:xfrm>
          <a:prstGeom prst="rect">
            <a:avLst/>
          </a:prstGeom>
          <a:noFill/>
          <a:ln/>
        </p:spPr>
        <p:txBody>
          <a:bodyPr wrap="square" lIns="0" tIns="0" rIns="0" bIns="0" rtlCol="0" anchor="b"/>
          <a:lstStyle/>
          <a:p>
            <a:pPr algn="l" indent="0" marL="0">
              <a:buNone/>
            </a:pPr>
            <a:r>
              <a:rPr lang="en-US" sz="4400" b="1" dirty="0">
                <a:solidFill>
                  <a:schemeClr val="bg1"/>
                </a:solidFill>
              </a:rPr>
              <a:t>NovaWorks AI Project Manager</a:t>
            </a:r>
            <a:endParaRPr lang="en-US" sz="4400" dirty="0"/>
          </a:p>
        </p:txBody>
      </p:sp>
      <p:sp>
        <p:nvSpPr>
          <p:cNvPr id="3" name="Text 0"/>
          <p:cNvSpPr/>
          <p:nvPr>
            <p:ph idx="101" type="body" hasCustomPrompt="1"/>
          </p:nvPr>
        </p:nvSpPr>
        <p:spPr>
          <a:xfrm>
            <a:off x="548640" y="3474720"/>
            <a:ext cx="5486400" cy="822960"/>
          </a:xfrm>
          <a:prstGeom prst="rect">
            <a:avLst/>
          </a:prstGeom>
          <a:noFill/>
          <a:ln/>
        </p:spPr>
        <p:txBody>
          <a:bodyPr wrap="square" lIns="0" tIns="0" rIns="0" bIns="0" rtlCol="0" anchor="t"/>
          <a:lstStyle/>
          <a:p>
            <a:pPr algn="l" indent="0" marL="0">
              <a:buNone/>
            </a:pPr>
            <a:r>
              <a:rPr lang="en-US" sz="2000" dirty="0">
                <a:solidFill>
                  <a:srgbClr val="C7D2FE"/>
                </a:solidFill>
              </a:rPr>
              <a:t>From a meeting transcript to assigned projects and tasks in about 20 seconds</a:t>
            </a:r>
            <a:endParaRPr lang="en-US" sz="2000" dirty="0"/>
          </a:p>
        </p:txBody>
      </p:sp>
      <p:sp>
        <p:nvSpPr>
          <p:cNvPr id="4" name="team and link"/>
          <p:cNvSpPr txBox="1"/>
          <p:nvPr/>
        </p:nvSpPr>
        <p:spPr>
          <a:xfrm>
            <a:off x="548640" y="4892040"/>
            <a:ext cx="5486400" cy="109728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rPr>
              <a:t>Team Dual Byte</a:t>
            </a:r>
            <a:endParaRPr lang="en-US" sz="1600" dirty="0"/>
          </a:p>
          <a:p>
            <a:pPr indent="0" marL="0">
              <a:spcAft>
                <a:spcPts val="400"/>
              </a:spcAft>
              <a:buNone/>
            </a:pPr>
            <a:r>
              <a:rPr lang="en-US" sz="1600" dirty="0">
                <a:solidFill>
                  <a:srgbClr val="C7D2FE"/>
                </a:solidFill>
              </a:rPr>
              <a:t>Muhammad Ali · Malik Muhammad Suleman Saleh</a:t>
            </a:r>
            <a:endParaRPr lang="en-US" sz="1600" dirty="0"/>
          </a:p>
          <a:p>
            <a:pPr indent="0" marL="0">
              <a:spcAft>
                <a:spcPts val="400"/>
              </a:spcAft>
              <a:buNone/>
            </a:pPr>
            <a:r>
              <a:rPr lang="en-US" sz="1600" dirty="0">
                <a:solidFill>
                  <a:srgbClr val="A5B4FC"/>
                </a:solidFill>
              </a:rPr>
              <a:t>infinity-hackathon.vercel.app</a:t>
            </a:r>
            <a:endParaRPr lang="en-US" sz="1600" dirty="0"/>
          </a:p>
        </p:txBody>
      </p:sp>
      <p:sp>
        <p:nvSpPr>
          <p:cNvPr id="5" name="dashboard frame"/>
          <p:cNvSpPr/>
          <p:nvPr/>
        </p:nvSpPr>
        <p:spPr>
          <a:xfrm>
            <a:off x="6455664" y="1746504"/>
            <a:ext cx="5193792" cy="3273552"/>
          </a:xfrm>
          <a:prstGeom prst="roundRect">
            <a:avLst>
              <a:gd name="adj" fmla="val 1676"/>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6" name="dashboard screenshot" descr="Admin dashboard of the NovaWorks AI Project Manager">    </p:cNvPr>
          <p:cNvPicPr>
            <a:picLocks noChangeAspect="1"/>
          </p:cNvPicPr>
          <p:nvPr/>
        </p:nvPicPr>
        <p:blipFill>
          <a:blip r:embed="rId1"/>
          <a:stretch>
            <a:fillRect/>
          </a:stretch>
        </p:blipFill>
        <p:spPr>
          <a:xfrm>
            <a:off x="6492240" y="1783080"/>
            <a:ext cx="5120640"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Meetings decide the plan, then someone retypes it by hand</a:t>
            </a:r>
            <a:endParaRPr lang="en-US" sz="3400" dirty="0"/>
          </a:p>
        </p:txBody>
      </p:sp>
      <p:sp>
        <p:nvSpPr>
          <p:cNvPr id="3" name="badge 1"/>
          <p:cNvSpPr/>
          <p:nvPr/>
        </p:nvSpPr>
        <p:spPr>
          <a:xfrm>
            <a:off x="548640" y="1463040"/>
            <a:ext cx="411480" cy="411480"/>
          </a:xfrm>
          <a:prstGeom prst="ellipse">
            <a:avLst/>
          </a:prstGeom>
          <a:solidFill>
            <a:schemeClr val="accent5"/>
          </a:solidFill>
          <a:ln w="12700">
            <a:solidFill>
              <a:schemeClr val="accent5"/>
            </a:solidFill>
            <a:prstDash val="solid"/>
          </a:ln>
        </p:spPr>
      </p:sp>
      <p:sp>
        <p:nvSpPr>
          <p:cNvPr id="4" name="badge 1 text"/>
          <p:cNvSpPr txBox="1"/>
          <p:nvPr/>
        </p:nvSpPr>
        <p:spPr>
          <a:xfrm>
            <a:off x="54864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pain 1"/>
          <p:cNvSpPr txBox="1"/>
          <p:nvPr/>
        </p:nvSpPr>
        <p:spPr>
          <a:xfrm>
            <a:off x="1143000" y="1417320"/>
            <a:ext cx="5029200" cy="1005840"/>
          </a:xfrm>
          <a:prstGeom prst="rect">
            <a:avLst/>
          </a:prstGeom>
          <a:noFill/>
          <a:ln/>
        </p:spPr>
        <p:txBody>
          <a:bodyPr wrap="square" lIns="0" tIns="0" rIns="0" bIns="0" rtlCol="0" anchor="t"/>
          <a:lstStyle/>
          <a:p>
            <a:pPr indent="0" marL="0">
              <a:spcAft>
                <a:spcPts val="200"/>
              </a:spcAft>
              <a:buNone/>
            </a:pPr>
            <a:r>
              <a:rPr lang="en-US" sz="1800" b="1" dirty="0">
                <a:solidFill>
                  <a:srgbClr val="0F172A"/>
                </a:solidFill>
              </a:rPr>
              <a:t>Slow</a:t>
            </a:r>
            <a:endParaRPr lang="en-US" sz="1800" dirty="0"/>
          </a:p>
          <a:p>
            <a:pPr indent="0" marL="0">
              <a:spcAft>
                <a:spcPts val="200"/>
              </a:spcAft>
              <a:buNone/>
            </a:pPr>
            <a:r>
              <a:rPr lang="en-US" sz="1400" dirty="0">
                <a:solidFill>
                  <a:srgbClr val="475569"/>
                </a:solidFill>
              </a:rPr>
              <a:t>Every project, task, owner, deadline and estimate is entered manually after the meeting.</a:t>
            </a:r>
            <a:endParaRPr lang="en-US" sz="1800" dirty="0"/>
          </a:p>
        </p:txBody>
      </p:sp>
      <p:sp>
        <p:nvSpPr>
          <p:cNvPr id="6" name="badge 2"/>
          <p:cNvSpPr/>
          <p:nvPr/>
        </p:nvSpPr>
        <p:spPr>
          <a:xfrm>
            <a:off x="548640" y="2651760"/>
            <a:ext cx="411480" cy="411480"/>
          </a:xfrm>
          <a:prstGeom prst="ellipse">
            <a:avLst/>
          </a:prstGeom>
          <a:solidFill>
            <a:schemeClr val="accent5"/>
          </a:solidFill>
          <a:ln w="12700">
            <a:solidFill>
              <a:schemeClr val="accent5"/>
            </a:solidFill>
            <a:prstDash val="solid"/>
          </a:ln>
        </p:spPr>
      </p:sp>
      <p:sp>
        <p:nvSpPr>
          <p:cNvPr id="7" name="badge 2 text"/>
          <p:cNvSpPr txBox="1"/>
          <p:nvPr/>
        </p:nvSpPr>
        <p:spPr>
          <a:xfrm>
            <a:off x="548640" y="2651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pain 2"/>
          <p:cNvSpPr txBox="1"/>
          <p:nvPr/>
        </p:nvSpPr>
        <p:spPr>
          <a:xfrm>
            <a:off x="1143000" y="2606040"/>
            <a:ext cx="5029200" cy="1005840"/>
          </a:xfrm>
          <a:prstGeom prst="rect">
            <a:avLst/>
          </a:prstGeom>
          <a:noFill/>
          <a:ln/>
        </p:spPr>
        <p:txBody>
          <a:bodyPr wrap="square" lIns="0" tIns="0" rIns="0" bIns="0" rtlCol="0" anchor="t"/>
          <a:lstStyle/>
          <a:p>
            <a:pPr indent="0" marL="0">
              <a:spcAft>
                <a:spcPts val="200"/>
              </a:spcAft>
              <a:buNone/>
            </a:pPr>
            <a:r>
              <a:rPr lang="en-US" sz="1800" b="1" dirty="0">
                <a:solidFill>
                  <a:srgbClr val="0F172A"/>
                </a:solidFill>
              </a:rPr>
              <a:t>Error-prone</a:t>
            </a:r>
            <a:endParaRPr lang="en-US" sz="1800" dirty="0"/>
          </a:p>
          <a:p>
            <a:pPr indent="0" marL="0">
              <a:spcAft>
                <a:spcPts val="200"/>
              </a:spcAft>
              <a:buNone/>
            </a:pPr>
            <a:r>
              <a:rPr lang="en-US" sz="1400" dirty="0">
                <a:solidFill>
                  <a:srgbClr val="475569"/>
                </a:solidFill>
              </a:rPr>
              <a:t>Decisions change mid-meeting, so it is easy to save the first value instead of the final one.</a:t>
            </a:r>
            <a:endParaRPr lang="en-US" sz="1800" dirty="0"/>
          </a:p>
        </p:txBody>
      </p:sp>
      <p:sp>
        <p:nvSpPr>
          <p:cNvPr id="9" name="badge 3"/>
          <p:cNvSpPr/>
          <p:nvPr/>
        </p:nvSpPr>
        <p:spPr>
          <a:xfrm>
            <a:off x="548640" y="3840480"/>
            <a:ext cx="411480" cy="411480"/>
          </a:xfrm>
          <a:prstGeom prst="ellipse">
            <a:avLst/>
          </a:prstGeom>
          <a:solidFill>
            <a:schemeClr val="accent5"/>
          </a:solidFill>
          <a:ln w="12700">
            <a:solidFill>
              <a:schemeClr val="accent5"/>
            </a:solidFill>
            <a:prstDash val="solid"/>
          </a:ln>
        </p:spPr>
      </p:sp>
      <p:sp>
        <p:nvSpPr>
          <p:cNvPr id="10" name="badge 3 text"/>
          <p:cNvSpPr txBox="1"/>
          <p:nvPr/>
        </p:nvSpPr>
        <p:spPr>
          <a:xfrm>
            <a:off x="548640" y="3840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pain 3"/>
          <p:cNvSpPr txBox="1"/>
          <p:nvPr/>
        </p:nvSpPr>
        <p:spPr>
          <a:xfrm>
            <a:off x="1143000" y="3794760"/>
            <a:ext cx="5029200" cy="1005840"/>
          </a:xfrm>
          <a:prstGeom prst="rect">
            <a:avLst/>
          </a:prstGeom>
          <a:noFill/>
          <a:ln/>
        </p:spPr>
        <p:txBody>
          <a:bodyPr wrap="square" lIns="0" tIns="0" rIns="0" bIns="0" rtlCol="0" anchor="t"/>
          <a:lstStyle/>
          <a:p>
            <a:pPr indent="0" marL="0">
              <a:spcAft>
                <a:spcPts val="200"/>
              </a:spcAft>
              <a:buNone/>
            </a:pPr>
            <a:r>
              <a:rPr lang="en-US" sz="1800" b="1" dirty="0">
                <a:solidFill>
                  <a:srgbClr val="0F172A"/>
                </a:solidFill>
              </a:rPr>
              <a:t>Scope creep</a:t>
            </a:r>
            <a:endParaRPr lang="en-US" sz="1800" dirty="0"/>
          </a:p>
          <a:p>
            <a:pPr indent="0" marL="0">
              <a:spcAft>
                <a:spcPts val="200"/>
              </a:spcAft>
              <a:buNone/>
            </a:pPr>
            <a:r>
              <a:rPr lang="en-US" sz="1400" dirty="0">
                <a:solidFill>
                  <a:srgbClr val="475569"/>
                </a:solidFill>
              </a:rPr>
              <a:t>Rejected features and non-employees are mentioned too, and can sneak into the plan.</a:t>
            </a:r>
            <a:endParaRPr lang="en-US" sz="1800" dirty="0"/>
          </a:p>
        </p:txBody>
      </p:sp>
      <p:sp>
        <p:nvSpPr>
          <p:cNvPr id="12" name="badge 4"/>
          <p:cNvSpPr/>
          <p:nvPr/>
        </p:nvSpPr>
        <p:spPr>
          <a:xfrm>
            <a:off x="548640" y="5029200"/>
            <a:ext cx="411480" cy="411480"/>
          </a:xfrm>
          <a:prstGeom prst="ellipse">
            <a:avLst/>
          </a:prstGeom>
          <a:solidFill>
            <a:schemeClr val="accent5"/>
          </a:solidFill>
          <a:ln w="12700">
            <a:solidFill>
              <a:schemeClr val="accent5"/>
            </a:solidFill>
            <a:prstDash val="solid"/>
          </a:ln>
        </p:spPr>
      </p:sp>
      <p:sp>
        <p:nvSpPr>
          <p:cNvPr id="13" name="badge 4 text"/>
          <p:cNvSpPr txBox="1"/>
          <p:nvPr/>
        </p:nvSpPr>
        <p:spPr>
          <a:xfrm>
            <a:off x="548640" y="5029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pain 4"/>
          <p:cNvSpPr txBox="1"/>
          <p:nvPr/>
        </p:nvSpPr>
        <p:spPr>
          <a:xfrm>
            <a:off x="1143000" y="4983480"/>
            <a:ext cx="5029200" cy="1005840"/>
          </a:xfrm>
          <a:prstGeom prst="rect">
            <a:avLst/>
          </a:prstGeom>
          <a:noFill/>
          <a:ln/>
        </p:spPr>
        <p:txBody>
          <a:bodyPr wrap="square" lIns="0" tIns="0" rIns="0" bIns="0" rtlCol="0" anchor="t"/>
          <a:lstStyle/>
          <a:p>
            <a:pPr indent="0" marL="0">
              <a:spcAft>
                <a:spcPts val="200"/>
              </a:spcAft>
              <a:buNone/>
            </a:pPr>
            <a:r>
              <a:rPr lang="en-US" sz="1800" b="1" dirty="0">
                <a:solidFill>
                  <a:srgbClr val="0F172A"/>
                </a:solidFill>
              </a:rPr>
              <a:t>No focus</a:t>
            </a:r>
            <a:endParaRPr lang="en-US" sz="1800" dirty="0"/>
          </a:p>
          <a:p>
            <a:pPr indent="0" marL="0">
              <a:spcAft>
                <a:spcPts val="200"/>
              </a:spcAft>
              <a:buNone/>
            </a:pPr>
            <a:r>
              <a:rPr lang="en-US" sz="1400" dirty="0">
                <a:solidFill>
                  <a:srgbClr val="475569"/>
                </a:solidFill>
              </a:rPr>
              <a:t>Managers and developers need to see their own work, and nobody else's.</a:t>
            </a:r>
            <a:endParaRPr lang="en-US" sz="1800" dirty="0"/>
          </a:p>
        </p:txBody>
      </p:sp>
      <p:sp>
        <p:nvSpPr>
          <p:cNvPr id="15" name="stat card 1"/>
          <p:cNvSpPr/>
          <p:nvPr/>
        </p:nvSpPr>
        <p:spPr>
          <a:xfrm>
            <a:off x="6400800" y="1371600"/>
            <a:ext cx="5242255" cy="1371600"/>
          </a:xfrm>
          <a:prstGeom prst="roundRect">
            <a:avLst>
              <a:gd name="adj" fmla="val 5333"/>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6" name="stat 1 number"/>
          <p:cNvSpPr txBox="1"/>
          <p:nvPr/>
        </p:nvSpPr>
        <p:spPr>
          <a:xfrm>
            <a:off x="6629400" y="1371600"/>
            <a:ext cx="1280160" cy="1371600"/>
          </a:xfrm>
          <a:prstGeom prst="rect">
            <a:avLst/>
          </a:prstGeom>
          <a:noFill/>
          <a:ln/>
        </p:spPr>
        <p:txBody>
          <a:bodyPr wrap="square" lIns="0" tIns="0" rIns="0" bIns="0" rtlCol="0" anchor="ctr"/>
          <a:lstStyle/>
          <a:p>
            <a:pPr indent="0" marL="0">
              <a:buNone/>
            </a:pPr>
            <a:r>
              <a:rPr lang="en-US" sz="6000" b="1" dirty="0">
                <a:solidFill>
                  <a:schemeClr val="accent1"/>
                </a:solidFill>
              </a:rPr>
              <a:t>12</a:t>
            </a:r>
            <a:endParaRPr lang="en-US" sz="6000" dirty="0"/>
          </a:p>
        </p:txBody>
      </p:sp>
      <p:sp>
        <p:nvSpPr>
          <p:cNvPr id="17" name="stat 1 label"/>
          <p:cNvSpPr txBox="1"/>
          <p:nvPr/>
        </p:nvSpPr>
        <p:spPr>
          <a:xfrm>
            <a:off x="7955280" y="1508760"/>
            <a:ext cx="3504895" cy="1097280"/>
          </a:xfrm>
          <a:prstGeom prst="rect">
            <a:avLst/>
          </a:prstGeom>
          <a:noFill/>
          <a:ln/>
        </p:spPr>
        <p:txBody>
          <a:bodyPr wrap="square" lIns="0" tIns="0" rIns="0" bIns="0" rtlCol="0" anchor="ctr"/>
          <a:lstStyle/>
          <a:p>
            <a:pPr indent="0" marL="0">
              <a:buNone/>
            </a:pPr>
            <a:r>
              <a:rPr lang="en-US" sz="1500" dirty="0">
                <a:solidFill>
                  <a:srgbClr val="0F172A"/>
                </a:solidFill>
              </a:rPr>
              <a:t>tasks, each with an owner, deadline and estimate, from one 60-minute meeting</a:t>
            </a:r>
            <a:endParaRPr lang="en-US" sz="1500" dirty="0"/>
          </a:p>
        </p:txBody>
      </p:sp>
      <p:sp>
        <p:nvSpPr>
          <p:cNvPr id="18" name="stat card 2"/>
          <p:cNvSpPr/>
          <p:nvPr/>
        </p:nvSpPr>
        <p:spPr>
          <a:xfrm>
            <a:off x="6400800" y="2971800"/>
            <a:ext cx="5242255" cy="1371600"/>
          </a:xfrm>
          <a:prstGeom prst="roundRect">
            <a:avLst>
              <a:gd name="adj" fmla="val 5333"/>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9" name="stat 2 number"/>
          <p:cNvSpPr txBox="1"/>
          <p:nvPr/>
        </p:nvSpPr>
        <p:spPr>
          <a:xfrm>
            <a:off x="6629400" y="2971800"/>
            <a:ext cx="1280160" cy="1371600"/>
          </a:xfrm>
          <a:prstGeom prst="rect">
            <a:avLst/>
          </a:prstGeom>
          <a:noFill/>
          <a:ln/>
        </p:spPr>
        <p:txBody>
          <a:bodyPr wrap="square" lIns="0" tIns="0" rIns="0" bIns="0" rtlCol="0" anchor="ctr"/>
          <a:lstStyle/>
          <a:p>
            <a:pPr indent="0" marL="0">
              <a:buNone/>
            </a:pPr>
            <a:r>
              <a:rPr lang="en-US" sz="6000" b="1" dirty="0">
                <a:solidFill>
                  <a:schemeClr val="accent1"/>
                </a:solidFill>
              </a:rPr>
              <a:t>4</a:t>
            </a:r>
            <a:endParaRPr lang="en-US" sz="6000" dirty="0"/>
          </a:p>
        </p:txBody>
      </p:sp>
      <p:sp>
        <p:nvSpPr>
          <p:cNvPr id="20" name="stat 2 label"/>
          <p:cNvSpPr txBox="1"/>
          <p:nvPr/>
        </p:nvSpPr>
        <p:spPr>
          <a:xfrm>
            <a:off x="7955280" y="3108960"/>
            <a:ext cx="3504895" cy="1097280"/>
          </a:xfrm>
          <a:prstGeom prst="rect">
            <a:avLst/>
          </a:prstGeom>
          <a:noFill/>
          <a:ln/>
        </p:spPr>
        <p:txBody>
          <a:bodyPr wrap="square" lIns="0" tIns="0" rIns="0" bIns="0" rtlCol="0" anchor="ctr"/>
          <a:lstStyle/>
          <a:p>
            <a:pPr indent="0" marL="0">
              <a:buNone/>
            </a:pPr>
            <a:r>
              <a:rPr lang="en-US" sz="1500" dirty="0">
                <a:solidFill>
                  <a:srgbClr val="0F172A"/>
                </a:solidFill>
              </a:rPr>
              <a:t>decisions changed during the meeting: deadline 18 → 20 Oct, 17 → 19 Oct, 8 → 10 h, Zain → Maryam</a:t>
            </a:r>
            <a:endParaRPr lang="en-US" sz="1500" dirty="0"/>
          </a:p>
        </p:txBody>
      </p:sp>
      <p:sp>
        <p:nvSpPr>
          <p:cNvPr id="21" name="stat card 3"/>
          <p:cNvSpPr/>
          <p:nvPr/>
        </p:nvSpPr>
        <p:spPr>
          <a:xfrm>
            <a:off x="6400800" y="4572000"/>
            <a:ext cx="5242255" cy="1371600"/>
          </a:xfrm>
          <a:prstGeom prst="roundRect">
            <a:avLst>
              <a:gd name="adj" fmla="val 5333"/>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22" name="stat 3 number"/>
          <p:cNvSpPr txBox="1"/>
          <p:nvPr/>
        </p:nvSpPr>
        <p:spPr>
          <a:xfrm>
            <a:off x="6629400" y="4572000"/>
            <a:ext cx="1280160" cy="1371600"/>
          </a:xfrm>
          <a:prstGeom prst="rect">
            <a:avLst/>
          </a:prstGeom>
          <a:noFill/>
          <a:ln/>
        </p:spPr>
        <p:txBody>
          <a:bodyPr wrap="square" lIns="0" tIns="0" rIns="0" bIns="0" rtlCol="0" anchor="ctr"/>
          <a:lstStyle/>
          <a:p>
            <a:pPr indent="0" marL="0">
              <a:buNone/>
            </a:pPr>
            <a:r>
              <a:rPr lang="en-US" sz="6000" b="1" dirty="0">
                <a:solidFill>
                  <a:schemeClr val="accent1"/>
                </a:solidFill>
              </a:rPr>
              <a:t>5</a:t>
            </a:r>
            <a:endParaRPr lang="en-US" sz="6000" dirty="0"/>
          </a:p>
        </p:txBody>
      </p:sp>
      <p:sp>
        <p:nvSpPr>
          <p:cNvPr id="23" name="stat 3 label"/>
          <p:cNvSpPr txBox="1"/>
          <p:nvPr/>
        </p:nvSpPr>
        <p:spPr>
          <a:xfrm>
            <a:off x="7955280" y="4709160"/>
            <a:ext cx="3504895" cy="1097280"/>
          </a:xfrm>
          <a:prstGeom prst="rect">
            <a:avLst/>
          </a:prstGeom>
          <a:noFill/>
          <a:ln/>
        </p:spPr>
        <p:txBody>
          <a:bodyPr wrap="square" lIns="0" tIns="0" rIns="0" bIns="0" rtlCol="0" anchor="ctr"/>
          <a:lstStyle/>
          <a:p>
            <a:pPr indent="0" marL="0">
              <a:buNone/>
            </a:pPr>
            <a:r>
              <a:rPr lang="en-US" sz="1500" dirty="0">
                <a:solidFill>
                  <a:srgbClr val="0F172A"/>
                </a:solidFill>
              </a:rPr>
              <a:t>rejected features that must not become tasks, plus a client contact (Kamran) who is not an employee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Our solution: paste the meeting, get the plan</a:t>
            </a:r>
            <a:endParaRPr lang="en-US" sz="3400" dirty="0"/>
          </a:p>
        </p:txBody>
      </p:sp>
      <p:sp>
        <p:nvSpPr>
          <p:cNvPr id="3" name="step 1 card"/>
          <p:cNvSpPr/>
          <p:nvPr/>
        </p:nvSpPr>
        <p:spPr>
          <a:xfrm>
            <a:off x="548640" y="1463040"/>
            <a:ext cx="2057400" cy="2971800"/>
          </a:xfrm>
          <a:prstGeom prst="roundRect">
            <a:avLst>
              <a:gd name="adj" fmla="val 35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badge 1"/>
          <p:cNvSpPr/>
          <p:nvPr/>
        </p:nvSpPr>
        <p:spPr>
          <a:xfrm>
            <a:off x="777240" y="1691640"/>
            <a:ext cx="548640" cy="548640"/>
          </a:xfrm>
          <a:prstGeom prst="ellipse">
            <a:avLst/>
          </a:prstGeom>
          <a:solidFill>
            <a:schemeClr val="accent1"/>
          </a:solidFill>
          <a:ln w="12700">
            <a:solidFill>
              <a:schemeClr val="accent1"/>
            </a:solidFill>
            <a:prstDash val="solid"/>
          </a:ln>
        </p:spPr>
      </p:sp>
      <p:sp>
        <p:nvSpPr>
          <p:cNvPr id="5" name="badge 1 text"/>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title"/>
          <p:cNvSpPr txBox="1"/>
          <p:nvPr/>
        </p:nvSpPr>
        <p:spPr>
          <a:xfrm>
            <a:off x="777240" y="2423160"/>
            <a:ext cx="1600200" cy="457200"/>
          </a:xfrm>
          <a:prstGeom prst="rect">
            <a:avLst/>
          </a:prstGeom>
          <a:noFill/>
          <a:ln/>
        </p:spPr>
        <p:txBody>
          <a:bodyPr wrap="square" lIns="0" tIns="0" rIns="0" bIns="0" rtlCol="0" anchor="ctr"/>
          <a:lstStyle/>
          <a:p>
            <a:pPr indent="0" marL="0">
              <a:buNone/>
            </a:pPr>
            <a:r>
              <a:rPr lang="en-US" sz="2000" b="1" dirty="0">
                <a:solidFill>
                  <a:srgbClr val="0F172A"/>
                </a:solidFill>
              </a:rPr>
              <a:t>Paste</a:t>
            </a:r>
            <a:endParaRPr lang="en-US" sz="2000" dirty="0"/>
          </a:p>
        </p:txBody>
      </p:sp>
      <p:sp>
        <p:nvSpPr>
          <p:cNvPr id="7" name="step 1 text"/>
          <p:cNvSpPr txBox="1"/>
          <p:nvPr/>
        </p:nvSpPr>
        <p:spPr>
          <a:xfrm>
            <a:off x="777240" y="2926080"/>
            <a:ext cx="1645920" cy="1371600"/>
          </a:xfrm>
          <a:prstGeom prst="rect">
            <a:avLst/>
          </a:prstGeom>
          <a:noFill/>
          <a:ln/>
        </p:spPr>
        <p:txBody>
          <a:bodyPr wrap="square" lIns="0" tIns="0" rIns="0" bIns="0" rtlCol="0" anchor="t"/>
          <a:lstStyle/>
          <a:p>
            <a:pPr indent="0" marL="0">
              <a:buNone/>
            </a:pPr>
            <a:r>
              <a:rPr lang="en-US" sz="1400" dirty="0">
                <a:solidFill>
                  <a:srgbClr val="475569"/>
                </a:solidFill>
              </a:rPr>
              <a:t>Admin pastes the meeting transcript, or loads the supplied one.</a:t>
            </a:r>
            <a:endParaRPr lang="en-US" sz="1400" dirty="0"/>
          </a:p>
        </p:txBody>
      </p:sp>
      <p:sp>
        <p:nvSpPr>
          <p:cNvPr id="8" name="step 2 card"/>
          <p:cNvSpPr/>
          <p:nvPr/>
        </p:nvSpPr>
        <p:spPr>
          <a:xfrm>
            <a:off x="2807894" y="1463040"/>
            <a:ext cx="2057400" cy="2971800"/>
          </a:xfrm>
          <a:prstGeom prst="roundRect">
            <a:avLst>
              <a:gd name="adj" fmla="val 35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9" name="badge 2"/>
          <p:cNvSpPr/>
          <p:nvPr/>
        </p:nvSpPr>
        <p:spPr>
          <a:xfrm>
            <a:off x="3036494" y="1691640"/>
            <a:ext cx="548640" cy="548640"/>
          </a:xfrm>
          <a:prstGeom prst="ellipse">
            <a:avLst/>
          </a:prstGeom>
          <a:solidFill>
            <a:schemeClr val="accent1"/>
          </a:solidFill>
          <a:ln w="12700">
            <a:solidFill>
              <a:schemeClr val="accent1"/>
            </a:solidFill>
            <a:prstDash val="solid"/>
          </a:ln>
        </p:spPr>
      </p:sp>
      <p:sp>
        <p:nvSpPr>
          <p:cNvPr id="10" name="badge 2 text"/>
          <p:cNvSpPr txBox="1"/>
          <p:nvPr/>
        </p:nvSpPr>
        <p:spPr>
          <a:xfrm>
            <a:off x="3036494"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title"/>
          <p:cNvSpPr txBox="1"/>
          <p:nvPr/>
        </p:nvSpPr>
        <p:spPr>
          <a:xfrm>
            <a:off x="3036494" y="2423160"/>
            <a:ext cx="1600200" cy="457200"/>
          </a:xfrm>
          <a:prstGeom prst="rect">
            <a:avLst/>
          </a:prstGeom>
          <a:noFill/>
          <a:ln/>
        </p:spPr>
        <p:txBody>
          <a:bodyPr wrap="square" lIns="0" tIns="0" rIns="0" bIns="0" rtlCol="0" anchor="ctr"/>
          <a:lstStyle/>
          <a:p>
            <a:pPr indent="0" marL="0">
              <a:buNone/>
            </a:pPr>
            <a:r>
              <a:rPr lang="en-US" sz="2000" b="1" dirty="0">
                <a:solidFill>
                  <a:srgbClr val="0F172A"/>
                </a:solidFill>
              </a:rPr>
              <a:t>Extract</a:t>
            </a:r>
            <a:endParaRPr lang="en-US" sz="2000" dirty="0"/>
          </a:p>
        </p:txBody>
      </p:sp>
      <p:sp>
        <p:nvSpPr>
          <p:cNvPr id="12" name="step 2 text"/>
          <p:cNvSpPr txBox="1"/>
          <p:nvPr/>
        </p:nvSpPr>
        <p:spPr>
          <a:xfrm>
            <a:off x="3036494" y="2926080"/>
            <a:ext cx="1645920" cy="1371600"/>
          </a:xfrm>
          <a:prstGeom prst="rect">
            <a:avLst/>
          </a:prstGeom>
          <a:noFill/>
          <a:ln/>
        </p:spPr>
        <p:txBody>
          <a:bodyPr wrap="square" lIns="0" tIns="0" rIns="0" bIns="0" rtlCol="0" anchor="t"/>
          <a:lstStyle/>
          <a:p>
            <a:pPr indent="0" marL="0">
              <a:buNone/>
            </a:pPr>
            <a:r>
              <a:rPr lang="en-US" sz="1400" dirty="0">
                <a:solidFill>
                  <a:srgbClr val="475569"/>
                </a:solidFill>
              </a:rPr>
              <a:t>AI reads it with the team directory and returns projects and tasks as JSON.</a:t>
            </a:r>
            <a:endParaRPr lang="en-US" sz="1400" dirty="0"/>
          </a:p>
        </p:txBody>
      </p:sp>
      <p:sp>
        <p:nvSpPr>
          <p:cNvPr id="13" name="step 3 card"/>
          <p:cNvSpPr/>
          <p:nvPr/>
        </p:nvSpPr>
        <p:spPr>
          <a:xfrm>
            <a:off x="5067148" y="1463040"/>
            <a:ext cx="2057400" cy="2971800"/>
          </a:xfrm>
          <a:prstGeom prst="roundRect">
            <a:avLst>
              <a:gd name="adj" fmla="val 35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4" name="badge 3"/>
          <p:cNvSpPr/>
          <p:nvPr/>
        </p:nvSpPr>
        <p:spPr>
          <a:xfrm>
            <a:off x="5295748" y="1691640"/>
            <a:ext cx="548640" cy="548640"/>
          </a:xfrm>
          <a:prstGeom prst="ellipse">
            <a:avLst/>
          </a:prstGeom>
          <a:solidFill>
            <a:schemeClr val="accent1"/>
          </a:solidFill>
          <a:ln w="12700">
            <a:solidFill>
              <a:schemeClr val="accent1"/>
            </a:solidFill>
            <a:prstDash val="solid"/>
          </a:ln>
        </p:spPr>
      </p:sp>
      <p:sp>
        <p:nvSpPr>
          <p:cNvPr id="15" name="badge 3 text"/>
          <p:cNvSpPr txBox="1"/>
          <p:nvPr/>
        </p:nvSpPr>
        <p:spPr>
          <a:xfrm>
            <a:off x="529574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step 3 title"/>
          <p:cNvSpPr txBox="1"/>
          <p:nvPr/>
        </p:nvSpPr>
        <p:spPr>
          <a:xfrm>
            <a:off x="5295748" y="2423160"/>
            <a:ext cx="1600200" cy="457200"/>
          </a:xfrm>
          <a:prstGeom prst="rect">
            <a:avLst/>
          </a:prstGeom>
          <a:noFill/>
          <a:ln/>
        </p:spPr>
        <p:txBody>
          <a:bodyPr wrap="square" lIns="0" tIns="0" rIns="0" bIns="0" rtlCol="0" anchor="ctr"/>
          <a:lstStyle/>
          <a:p>
            <a:pPr indent="0" marL="0">
              <a:buNone/>
            </a:pPr>
            <a:r>
              <a:rPr lang="en-US" sz="2000" b="1" dirty="0">
                <a:solidFill>
                  <a:srgbClr val="0F172A"/>
                </a:solidFill>
              </a:rPr>
              <a:t>Validate</a:t>
            </a:r>
            <a:endParaRPr lang="en-US" sz="2000" dirty="0"/>
          </a:p>
        </p:txBody>
      </p:sp>
      <p:sp>
        <p:nvSpPr>
          <p:cNvPr id="17" name="step 3 text"/>
          <p:cNvSpPr txBox="1"/>
          <p:nvPr/>
        </p:nvSpPr>
        <p:spPr>
          <a:xfrm>
            <a:off x="5295748" y="2926080"/>
            <a:ext cx="1645920" cy="1371600"/>
          </a:xfrm>
          <a:prstGeom prst="rect">
            <a:avLst/>
          </a:prstGeom>
          <a:noFill/>
          <a:ln/>
        </p:spPr>
        <p:txBody>
          <a:bodyPr wrap="square" lIns="0" tIns="0" rIns="0" bIns="0" rtlCol="0" anchor="t"/>
          <a:lstStyle/>
          <a:p>
            <a:pPr indent="0" marL="0">
              <a:buNone/>
            </a:pPr>
            <a:r>
              <a:rPr lang="en-US" sz="1400" dirty="0">
                <a:solidFill>
                  <a:srgbClr val="475569"/>
                </a:solidFill>
              </a:rPr>
              <a:t>Server checks people, roles, dates and hours before anything is saved.</a:t>
            </a:r>
            <a:endParaRPr lang="en-US" sz="1400" dirty="0"/>
          </a:p>
        </p:txBody>
      </p:sp>
      <p:sp>
        <p:nvSpPr>
          <p:cNvPr id="18" name="step 4 card"/>
          <p:cNvSpPr/>
          <p:nvPr/>
        </p:nvSpPr>
        <p:spPr>
          <a:xfrm>
            <a:off x="7326401" y="1463040"/>
            <a:ext cx="2057400" cy="2971800"/>
          </a:xfrm>
          <a:prstGeom prst="roundRect">
            <a:avLst>
              <a:gd name="adj" fmla="val 35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9" name="badge 4"/>
          <p:cNvSpPr/>
          <p:nvPr/>
        </p:nvSpPr>
        <p:spPr>
          <a:xfrm>
            <a:off x="7555001" y="1691640"/>
            <a:ext cx="548640" cy="548640"/>
          </a:xfrm>
          <a:prstGeom prst="ellipse">
            <a:avLst/>
          </a:prstGeom>
          <a:solidFill>
            <a:schemeClr val="accent1"/>
          </a:solidFill>
          <a:ln w="12700">
            <a:solidFill>
              <a:schemeClr val="accent1"/>
            </a:solidFill>
            <a:prstDash val="solid"/>
          </a:ln>
        </p:spPr>
      </p:sp>
      <p:sp>
        <p:nvSpPr>
          <p:cNvPr id="20" name="badge 4 text"/>
          <p:cNvSpPr txBox="1"/>
          <p:nvPr/>
        </p:nvSpPr>
        <p:spPr>
          <a:xfrm>
            <a:off x="7555001"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step 4 title"/>
          <p:cNvSpPr txBox="1"/>
          <p:nvPr/>
        </p:nvSpPr>
        <p:spPr>
          <a:xfrm>
            <a:off x="7555001" y="2423160"/>
            <a:ext cx="1600200" cy="457200"/>
          </a:xfrm>
          <a:prstGeom prst="rect">
            <a:avLst/>
          </a:prstGeom>
          <a:noFill/>
          <a:ln/>
        </p:spPr>
        <p:txBody>
          <a:bodyPr wrap="square" lIns="0" tIns="0" rIns="0" bIns="0" rtlCol="0" anchor="ctr"/>
          <a:lstStyle/>
          <a:p>
            <a:pPr indent="0" marL="0">
              <a:buNone/>
            </a:pPr>
            <a:r>
              <a:rPr lang="en-US" sz="2000" b="1" dirty="0">
                <a:solidFill>
                  <a:srgbClr val="0F172A"/>
                </a:solidFill>
              </a:rPr>
              <a:t>Save</a:t>
            </a:r>
            <a:endParaRPr lang="en-US" sz="2000" dirty="0"/>
          </a:p>
        </p:txBody>
      </p:sp>
      <p:sp>
        <p:nvSpPr>
          <p:cNvPr id="22" name="step 4 text"/>
          <p:cNvSpPr txBox="1"/>
          <p:nvPr/>
        </p:nvSpPr>
        <p:spPr>
          <a:xfrm>
            <a:off x="7555001" y="2926080"/>
            <a:ext cx="1645920" cy="1371600"/>
          </a:xfrm>
          <a:prstGeom prst="rect">
            <a:avLst/>
          </a:prstGeom>
          <a:noFill/>
          <a:ln/>
        </p:spPr>
        <p:txBody>
          <a:bodyPr wrap="square" lIns="0" tIns="0" rIns="0" bIns="0" rtlCol="0" anchor="t"/>
          <a:lstStyle/>
          <a:p>
            <a:pPr indent="0" marL="0">
              <a:buNone/>
            </a:pPr>
            <a:r>
              <a:rPr lang="en-US" sz="1400" dirty="0">
                <a:solidFill>
                  <a:srgbClr val="475569"/>
                </a:solidFill>
              </a:rPr>
              <a:t>One transaction saves all projects, tasks and clients, or nothing at all.</a:t>
            </a:r>
            <a:endParaRPr lang="en-US" sz="1400" dirty="0"/>
          </a:p>
        </p:txBody>
      </p:sp>
      <p:sp>
        <p:nvSpPr>
          <p:cNvPr id="23" name="step 5 card"/>
          <p:cNvSpPr/>
          <p:nvPr/>
        </p:nvSpPr>
        <p:spPr>
          <a:xfrm>
            <a:off x="9585655" y="1463040"/>
            <a:ext cx="2057400" cy="2971800"/>
          </a:xfrm>
          <a:prstGeom prst="roundRect">
            <a:avLst>
              <a:gd name="adj" fmla="val 35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24" name="badge 5"/>
          <p:cNvSpPr/>
          <p:nvPr/>
        </p:nvSpPr>
        <p:spPr>
          <a:xfrm>
            <a:off x="9814255" y="1691640"/>
            <a:ext cx="548640" cy="548640"/>
          </a:xfrm>
          <a:prstGeom prst="ellipse">
            <a:avLst/>
          </a:prstGeom>
          <a:solidFill>
            <a:schemeClr val="accent1"/>
          </a:solidFill>
          <a:ln w="12700">
            <a:solidFill>
              <a:schemeClr val="accent1"/>
            </a:solidFill>
            <a:prstDash val="solid"/>
          </a:ln>
        </p:spPr>
      </p:sp>
      <p:sp>
        <p:nvSpPr>
          <p:cNvPr id="25" name="badge 5 text"/>
          <p:cNvSpPr txBox="1"/>
          <p:nvPr/>
        </p:nvSpPr>
        <p:spPr>
          <a:xfrm>
            <a:off x="9814255"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step 5 title"/>
          <p:cNvSpPr txBox="1"/>
          <p:nvPr/>
        </p:nvSpPr>
        <p:spPr>
          <a:xfrm>
            <a:off x="9814255" y="2423160"/>
            <a:ext cx="1600200" cy="457200"/>
          </a:xfrm>
          <a:prstGeom prst="rect">
            <a:avLst/>
          </a:prstGeom>
          <a:noFill/>
          <a:ln/>
        </p:spPr>
        <p:txBody>
          <a:bodyPr wrap="square" lIns="0" tIns="0" rIns="0" bIns="0" rtlCol="0" anchor="ctr"/>
          <a:lstStyle/>
          <a:p>
            <a:pPr indent="0" marL="0">
              <a:buNone/>
            </a:pPr>
            <a:r>
              <a:rPr lang="en-US" sz="2000" b="1" dirty="0">
                <a:solidFill>
                  <a:srgbClr val="0F172A"/>
                </a:solidFill>
              </a:rPr>
              <a:t>View</a:t>
            </a:r>
            <a:endParaRPr lang="en-US" sz="2000" dirty="0"/>
          </a:p>
        </p:txBody>
      </p:sp>
      <p:sp>
        <p:nvSpPr>
          <p:cNvPr id="27" name="step 5 text"/>
          <p:cNvSpPr txBox="1"/>
          <p:nvPr/>
        </p:nvSpPr>
        <p:spPr>
          <a:xfrm>
            <a:off x="9814255" y="2926080"/>
            <a:ext cx="1645920" cy="1371600"/>
          </a:xfrm>
          <a:prstGeom prst="rect">
            <a:avLst/>
          </a:prstGeom>
          <a:noFill/>
          <a:ln/>
        </p:spPr>
        <p:txBody>
          <a:bodyPr wrap="square" lIns="0" tIns="0" rIns="0" bIns="0" rtlCol="0" anchor="t"/>
          <a:lstStyle/>
          <a:p>
            <a:pPr indent="0" marL="0">
              <a:buNone/>
            </a:pPr>
            <a:r>
              <a:rPr lang="en-US" sz="1400" dirty="0">
                <a:solidFill>
                  <a:srgbClr val="475569"/>
                </a:solidFill>
              </a:rPr>
              <a:t>Admin, managers and agents each see only the work they are allowed to see.</a:t>
            </a:r>
            <a:endParaRPr lang="en-US" sz="1400" dirty="0"/>
          </a:p>
        </p:txBody>
      </p:sp>
      <p:sp>
        <p:nvSpPr>
          <p:cNvPr id="28" name="tagline"/>
          <p:cNvSpPr txBox="1"/>
          <p:nvPr/>
        </p:nvSpPr>
        <p:spPr>
          <a:xfrm>
            <a:off x="548640" y="4892040"/>
            <a:ext cx="11094415" cy="548640"/>
          </a:xfrm>
          <a:prstGeom prst="rect">
            <a:avLst/>
          </a:prstGeom>
          <a:noFill/>
          <a:ln/>
        </p:spPr>
        <p:txBody>
          <a:bodyPr wrap="square" lIns="0" tIns="0" rIns="0" bIns="0" rtlCol="0" anchor="ctr"/>
          <a:lstStyle/>
          <a:p>
            <a:pPr indent="0" marL="0">
              <a:buNone/>
            </a:pPr>
            <a:r>
              <a:rPr lang="en-US" sz="1800" i="1" dirty="0">
                <a:solidFill>
                  <a:schemeClr val="accent1"/>
                </a:solidFill>
              </a:rPr>
              <a:t>Admin: ~20 seconds instead of retyping a whole meeting. Everyone else: a focused view of their own work.</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One click turns a meeting into a plan</a:t>
            </a:r>
            <a:endParaRPr lang="en-US" sz="3400" dirty="0"/>
          </a:p>
        </p:txBody>
      </p:sp>
      <p:sp>
        <p:nvSpPr>
          <p:cNvPr id="3" name="transcript frame"/>
          <p:cNvSpPr/>
          <p:nvPr/>
        </p:nvSpPr>
        <p:spPr>
          <a:xfrm>
            <a:off x="512064" y="1335024"/>
            <a:ext cx="7114032" cy="4473702"/>
          </a:xfrm>
          <a:prstGeom prst="roundRect">
            <a:avLst>
              <a:gd name="adj" fmla="val 1226"/>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4" name="transcript screenshot" descr="Create from Transcript page with the supplied meeting loaded and the team directory panel">    </p:cNvPr>
          <p:cNvPicPr>
            <a:picLocks noChangeAspect="1"/>
          </p:cNvPicPr>
          <p:nvPr/>
        </p:nvPicPr>
        <p:blipFill>
          <a:blip r:embed="rId1"/>
          <a:stretch>
            <a:fillRect/>
          </a:stretch>
        </p:blipFill>
        <p:spPr>
          <a:xfrm>
            <a:off x="548640" y="1371600"/>
            <a:ext cx="7040880" cy="4400550"/>
          </a:xfrm>
          <a:prstGeom prst="rect">
            <a:avLst/>
          </a:prstGeom>
        </p:spPr>
      </p:pic>
      <p:sp>
        <p:nvSpPr>
          <p:cNvPr id="5" name="badge 1"/>
          <p:cNvSpPr/>
          <p:nvPr/>
        </p:nvSpPr>
        <p:spPr>
          <a:xfrm>
            <a:off x="8092440" y="1435608"/>
            <a:ext cx="411480" cy="411480"/>
          </a:xfrm>
          <a:prstGeom prst="ellipse">
            <a:avLst/>
          </a:prstGeom>
          <a:solidFill>
            <a:schemeClr val="accent1"/>
          </a:solidFill>
          <a:ln w="12700">
            <a:solidFill>
              <a:schemeClr val="accent1"/>
            </a:solidFill>
            <a:prstDash val="solid"/>
          </a:ln>
        </p:spPr>
      </p:sp>
      <p:sp>
        <p:nvSpPr>
          <p:cNvPr id="6" name="badge 1 text"/>
          <p:cNvSpPr txBox="1"/>
          <p:nvPr/>
        </p:nvSpPr>
        <p:spPr>
          <a:xfrm>
            <a:off x="8092440" y="143560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ranscript point 1"/>
          <p:cNvSpPr txBox="1"/>
          <p:nvPr/>
        </p:nvSpPr>
        <p:spPr>
          <a:xfrm>
            <a:off x="8641080" y="1417320"/>
            <a:ext cx="3001975" cy="12801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rPr>
              <a:t>Paste or load</a:t>
            </a:r>
            <a:endParaRPr lang="en-US" sz="1700" dirty="0"/>
          </a:p>
          <a:p>
            <a:pPr indent="0" marL="0">
              <a:spcAft>
                <a:spcPts val="300"/>
              </a:spcAft>
              <a:buNone/>
            </a:pPr>
            <a:r>
              <a:rPr lang="en-US" sz="1400" dirty="0">
                <a:solidFill>
                  <a:srgbClr val="475569"/>
                </a:solidFill>
              </a:rPr>
              <a:t>Any transcript, up to 50,000 characters. The supplied meeting loads with one click.</a:t>
            </a:r>
            <a:endParaRPr lang="en-US" sz="1700" dirty="0"/>
          </a:p>
        </p:txBody>
      </p:sp>
      <p:sp>
        <p:nvSpPr>
          <p:cNvPr id="8" name="badge 2"/>
          <p:cNvSpPr/>
          <p:nvPr/>
        </p:nvSpPr>
        <p:spPr>
          <a:xfrm>
            <a:off x="8092440" y="2898648"/>
            <a:ext cx="411480" cy="411480"/>
          </a:xfrm>
          <a:prstGeom prst="ellipse">
            <a:avLst/>
          </a:prstGeom>
          <a:solidFill>
            <a:schemeClr val="accent1"/>
          </a:solidFill>
          <a:ln w="12700">
            <a:solidFill>
              <a:schemeClr val="accent1"/>
            </a:solidFill>
            <a:prstDash val="solid"/>
          </a:ln>
        </p:spPr>
      </p:sp>
      <p:sp>
        <p:nvSpPr>
          <p:cNvPr id="9" name="badge 2 text"/>
          <p:cNvSpPr txBox="1"/>
          <p:nvPr/>
        </p:nvSpPr>
        <p:spPr>
          <a:xfrm>
            <a:off x="8092440" y="289864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ranscript point 2"/>
          <p:cNvSpPr txBox="1"/>
          <p:nvPr/>
        </p:nvSpPr>
        <p:spPr>
          <a:xfrm>
            <a:off x="8641080" y="2880360"/>
            <a:ext cx="3001975" cy="12801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rPr>
              <a:t>Directory, not secrets</a:t>
            </a:r>
            <a:endParaRPr lang="en-US" sz="1700" dirty="0"/>
          </a:p>
          <a:p>
            <a:pPr indent="0" marL="0">
              <a:spcAft>
                <a:spcPts val="300"/>
              </a:spcAft>
              <a:buNone/>
            </a:pPr>
            <a:r>
              <a:rPr lang="en-US" sz="1400" dirty="0">
                <a:solidFill>
                  <a:srgbClr val="475569"/>
                </a:solidFill>
              </a:rPr>
              <a:t>The AI gets names, roles and skills only. Emails and passwords are never sent.</a:t>
            </a:r>
            <a:endParaRPr lang="en-US" sz="1700" dirty="0"/>
          </a:p>
        </p:txBody>
      </p:sp>
      <p:sp>
        <p:nvSpPr>
          <p:cNvPr id="11" name="badge 3"/>
          <p:cNvSpPr/>
          <p:nvPr/>
        </p:nvSpPr>
        <p:spPr>
          <a:xfrm>
            <a:off x="8092440" y="4361688"/>
            <a:ext cx="411480" cy="411480"/>
          </a:xfrm>
          <a:prstGeom prst="ellipse">
            <a:avLst/>
          </a:prstGeom>
          <a:solidFill>
            <a:schemeClr val="accent1"/>
          </a:solidFill>
          <a:ln w="12700">
            <a:solidFill>
              <a:schemeClr val="accent1"/>
            </a:solidFill>
            <a:prstDash val="solid"/>
          </a:ln>
        </p:spPr>
      </p:sp>
      <p:sp>
        <p:nvSpPr>
          <p:cNvPr id="12" name="badge 3 text"/>
          <p:cNvSpPr txBox="1"/>
          <p:nvPr/>
        </p:nvSpPr>
        <p:spPr>
          <a:xfrm>
            <a:off x="8092440" y="436168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ranscript point 3"/>
          <p:cNvSpPr txBox="1"/>
          <p:nvPr/>
        </p:nvSpPr>
        <p:spPr>
          <a:xfrm>
            <a:off x="8641080" y="4343400"/>
            <a:ext cx="3001975" cy="1280160"/>
          </a:xfrm>
          <a:prstGeom prst="rect">
            <a:avLst/>
          </a:prstGeom>
          <a:noFill/>
          <a:ln/>
        </p:spPr>
        <p:txBody>
          <a:bodyPr wrap="square" lIns="0" tIns="0" rIns="0" bIns="0" rtlCol="0" anchor="t"/>
          <a:lstStyle/>
          <a:p>
            <a:pPr indent="0" marL="0">
              <a:spcAft>
                <a:spcPts val="300"/>
              </a:spcAft>
              <a:buNone/>
            </a:pPr>
            <a:r>
              <a:rPr lang="en-US" sz="1700" b="1" dirty="0">
                <a:solidFill>
                  <a:srgbClr val="0F172A"/>
                </a:solidFill>
              </a:rPr>
              <a:t>Safe to click</a:t>
            </a:r>
            <a:endParaRPr lang="en-US" sz="1700" dirty="0"/>
          </a:p>
          <a:p>
            <a:pPr indent="0" marL="0">
              <a:spcAft>
                <a:spcPts val="300"/>
              </a:spcAft>
              <a:buNone/>
            </a:pPr>
            <a:r>
              <a:rPr lang="en-US" sz="1400" dirty="0">
                <a:solidFill>
                  <a:srgbClr val="475569"/>
                </a:solidFill>
              </a:rPr>
              <a:t>The button locks while processing (10–25 s), so no accidental duplicates.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Where AI is used: the AI extracts, our code verifies</a:t>
            </a:r>
            <a:endParaRPr lang="en-US" sz="3400" dirty="0"/>
          </a:p>
        </p:txBody>
      </p:sp>
      <p:sp>
        <p:nvSpPr>
          <p:cNvPr id="3" name="ai column 1"/>
          <p:cNvSpPr/>
          <p:nvPr/>
        </p:nvSpPr>
        <p:spPr>
          <a:xfrm>
            <a:off x="548640" y="1371600"/>
            <a:ext cx="5364328" cy="3931920"/>
          </a:xfrm>
          <a:prstGeom prst="roundRect">
            <a:avLst>
              <a:gd name="adj" fmla="val 186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ai column 1 header"/>
          <p:cNvSpPr/>
          <p:nvPr/>
        </p:nvSpPr>
        <p:spPr>
          <a:xfrm>
            <a:off x="822960" y="1645920"/>
            <a:ext cx="4815688" cy="548640"/>
          </a:xfrm>
          <a:prstGeom prst="roundRect">
            <a:avLst>
              <a:gd name="adj" fmla="val 13333"/>
            </a:avLst>
          </a:prstGeom>
          <a:solidFill>
            <a:schemeClr val="accent1"/>
          </a:solidFill>
          <a:ln w="12700">
            <a:solidFill>
              <a:schemeClr val="accent1"/>
            </a:solidFill>
            <a:prstDash val="solid"/>
          </a:ln>
        </p:spPr>
      </p:sp>
      <p:sp>
        <p:nvSpPr>
          <p:cNvPr id="5" name="ai column 1 header text"/>
          <p:cNvSpPr txBox="1"/>
          <p:nvPr/>
        </p:nvSpPr>
        <p:spPr>
          <a:xfrm>
            <a:off x="822960" y="1645920"/>
            <a:ext cx="4815688" cy="548640"/>
          </a:xfrm>
          <a:prstGeom prst="rect">
            <a:avLst/>
          </a:prstGeom>
          <a:noFill/>
          <a:ln/>
        </p:spPr>
        <p:txBody>
          <a:bodyPr wrap="square" lIns="0" tIns="0" rIns="0" bIns="0" rtlCol="0" anchor="ctr"/>
          <a:lstStyle/>
          <a:p>
            <a:pPr algn="ctr" indent="0" marL="0">
              <a:buNone/>
            </a:pPr>
            <a:r>
              <a:rPr lang="en-US" sz="1800" b="1" dirty="0">
                <a:solidFill>
                  <a:schemeClr val="bg1"/>
                </a:solidFill>
              </a:rPr>
              <a:t>AI: Groq · GPT-OSS 120B</a:t>
            </a:r>
            <a:endParaRPr lang="en-US" sz="1800" dirty="0"/>
          </a:p>
        </p:txBody>
      </p:sp>
      <p:sp>
        <p:nvSpPr>
          <p:cNvPr id="6" name="ai column 1 list"/>
          <p:cNvSpPr txBox="1"/>
          <p:nvPr/>
        </p:nvSpPr>
        <p:spPr>
          <a:xfrm>
            <a:off x="868680" y="2423160"/>
            <a:ext cx="4724248" cy="274320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0F172A"/>
                </a:solidFill>
              </a:rPr>
              <a:t>Reads the whole transcript plus the team directory</a:t>
            </a:r>
            <a:endParaRPr lang="en-US" sz="1600" dirty="0"/>
          </a:p>
          <a:p>
            <a:pPr marL="228600" indent="-228600">
              <a:spcAft>
                <a:spcPts val="900"/>
              </a:spcAft>
              <a:buSzPct val="100000"/>
              <a:buChar char="•"/>
            </a:pPr>
            <a:r>
              <a:rPr lang="en-US" sz="1600" dirty="0">
                <a:solidFill>
                  <a:srgbClr val="0F172A"/>
                </a:solidFill>
              </a:rPr>
              <a:t>Keeps only final decisions; the recap wins</a:t>
            </a:r>
            <a:endParaRPr lang="en-US" sz="1600" dirty="0"/>
          </a:p>
          <a:p>
            <a:pPr marL="228600" indent="-228600">
              <a:spcAft>
                <a:spcPts val="900"/>
              </a:spcAft>
              <a:buSzPct val="100000"/>
              <a:buChar char="•"/>
            </a:pPr>
            <a:r>
              <a:rPr lang="en-US" sz="1600" dirty="0">
                <a:solidFill>
                  <a:srgbClr val="0F172A"/>
                </a:solidFill>
              </a:rPr>
              <a:t>Skips rejected, excluded and future features</a:t>
            </a:r>
            <a:endParaRPr lang="en-US" sz="1600" dirty="0"/>
          </a:p>
          <a:p>
            <a:pPr marL="228600" indent="-228600">
              <a:spcAft>
                <a:spcPts val="900"/>
              </a:spcAft>
              <a:buSzPct val="100000"/>
              <a:buChar char="•"/>
            </a:pPr>
            <a:r>
              <a:rPr lang="en-US" sz="1600" dirty="0">
                <a:solidFill>
                  <a:srgbClr val="0F172A"/>
                </a:solidFill>
              </a:rPr>
              <a:t>Never invents people: unknown values become null</a:t>
            </a:r>
            <a:endParaRPr lang="en-US" sz="1600" dirty="0"/>
          </a:p>
          <a:p>
            <a:pPr marL="228600" indent="-228600">
              <a:spcAft>
                <a:spcPts val="900"/>
              </a:spcAft>
              <a:buSzPct val="100000"/>
              <a:buChar char="•"/>
            </a:pPr>
            <a:r>
              <a:rPr lang="en-US" sz="1600" dirty="0">
                <a:solidFill>
                  <a:srgbClr val="0F172A"/>
                </a:solidFill>
              </a:rPr>
              <a:t>Returns strict JSON at temperature 0</a:t>
            </a:r>
            <a:endParaRPr lang="en-US" sz="1600" dirty="0"/>
          </a:p>
        </p:txBody>
      </p:sp>
      <p:sp>
        <p:nvSpPr>
          <p:cNvPr id="7" name="ai column 2"/>
          <p:cNvSpPr/>
          <p:nvPr/>
        </p:nvSpPr>
        <p:spPr>
          <a:xfrm>
            <a:off x="6278728" y="1371600"/>
            <a:ext cx="5364328" cy="3931920"/>
          </a:xfrm>
          <a:prstGeom prst="roundRect">
            <a:avLst>
              <a:gd name="adj" fmla="val 186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8" name="ai column 2 header"/>
          <p:cNvSpPr/>
          <p:nvPr/>
        </p:nvSpPr>
        <p:spPr>
          <a:xfrm>
            <a:off x="6553048" y="1645920"/>
            <a:ext cx="4815688" cy="548640"/>
          </a:xfrm>
          <a:prstGeom prst="roundRect">
            <a:avLst>
              <a:gd name="adj" fmla="val 13333"/>
            </a:avLst>
          </a:prstGeom>
          <a:solidFill>
            <a:schemeClr val="accent2"/>
          </a:solidFill>
          <a:ln w="12700">
            <a:solidFill>
              <a:schemeClr val="accent2"/>
            </a:solidFill>
            <a:prstDash val="solid"/>
          </a:ln>
        </p:spPr>
      </p:sp>
      <p:sp>
        <p:nvSpPr>
          <p:cNvPr id="9" name="ai column 2 header text"/>
          <p:cNvSpPr txBox="1"/>
          <p:nvPr/>
        </p:nvSpPr>
        <p:spPr>
          <a:xfrm>
            <a:off x="6553048" y="1645920"/>
            <a:ext cx="4815688" cy="548640"/>
          </a:xfrm>
          <a:prstGeom prst="rect">
            <a:avLst/>
          </a:prstGeom>
          <a:noFill/>
          <a:ln/>
        </p:spPr>
        <p:txBody>
          <a:bodyPr wrap="square" lIns="0" tIns="0" rIns="0" bIns="0" rtlCol="0" anchor="ctr"/>
          <a:lstStyle/>
          <a:p>
            <a:pPr algn="ctr" indent="0" marL="0">
              <a:buNone/>
            </a:pPr>
            <a:r>
              <a:rPr lang="en-US" sz="1800" b="1" dirty="0">
                <a:solidFill>
                  <a:schemeClr val="bg1"/>
                </a:solidFill>
              </a:rPr>
              <a:t>Our code guarantees</a:t>
            </a:r>
            <a:endParaRPr lang="en-US" sz="1800" dirty="0"/>
          </a:p>
        </p:txBody>
      </p:sp>
      <p:sp>
        <p:nvSpPr>
          <p:cNvPr id="10" name="ai column 2 list"/>
          <p:cNvSpPr txBox="1"/>
          <p:nvPr/>
        </p:nvSpPr>
        <p:spPr>
          <a:xfrm>
            <a:off x="6598768" y="2423160"/>
            <a:ext cx="4724248" cy="274320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0F172A"/>
                </a:solidFill>
              </a:rPr>
              <a:t>Shape check of the AI output (zod)</a:t>
            </a:r>
            <a:endParaRPr lang="en-US" sz="1600" dirty="0"/>
          </a:p>
          <a:p>
            <a:pPr marL="228600" indent="-228600">
              <a:spcAft>
                <a:spcPts val="900"/>
              </a:spcAft>
              <a:buSzPct val="100000"/>
              <a:buChar char="•"/>
            </a:pPr>
            <a:r>
              <a:rPr lang="en-US" sz="1600" dirty="0">
                <a:solidFill>
                  <a:srgbClr val="0F172A"/>
                </a:solidFill>
              </a:rPr>
              <a:t>Manager must be a MANAGER, owner an AGENT</a:t>
            </a:r>
            <a:endParaRPr lang="en-US" sz="1600" dirty="0"/>
          </a:p>
          <a:p>
            <a:pPr marL="228600" indent="-228600">
              <a:spcAft>
                <a:spcPts val="900"/>
              </a:spcAft>
              <a:buSzPct val="100000"/>
              <a:buChar char="•"/>
            </a:pPr>
            <a:r>
              <a:rPr lang="en-US" sz="1600" dirty="0">
                <a:solidFill>
                  <a:srgbClr val="0F172A"/>
                </a:solidFill>
              </a:rPr>
              <a:t>Hours &gt; 0, valid dates, task deadline ≤ project deadline</a:t>
            </a:r>
            <a:endParaRPr lang="en-US" sz="1600" dirty="0"/>
          </a:p>
          <a:p>
            <a:pPr marL="228600" indent="-228600">
              <a:spcAft>
                <a:spcPts val="900"/>
              </a:spcAft>
              <a:buSzPct val="100000"/>
              <a:buChar char="•"/>
            </a:pPr>
            <a:r>
              <a:rPr lang="en-US" sz="1600" dirty="0">
                <a:solidFill>
                  <a:srgbClr val="0F172A"/>
                </a:solidFill>
              </a:rPr>
              <a:t>All-or-nothing database transaction</a:t>
            </a:r>
            <a:endParaRPr lang="en-US" sz="1600" dirty="0"/>
          </a:p>
          <a:p>
            <a:pPr marL="228600" indent="-228600">
              <a:spcAft>
                <a:spcPts val="900"/>
              </a:spcAft>
              <a:buSzPct val="100000"/>
              <a:buChar char="•"/>
            </a:pPr>
            <a:r>
              <a:rPr lang="en-US" sz="1600" dirty="0">
                <a:solidFill>
                  <a:srgbClr val="0F172A"/>
                </a:solidFill>
              </a:rPr>
              <a:t>Rate-limit retry and fallback model (GPT-OSS 20B)</a:t>
            </a:r>
            <a:endParaRPr lang="en-US" sz="1600" dirty="0"/>
          </a:p>
          <a:p>
            <a:pPr marL="228600" indent="-228600">
              <a:spcAft>
                <a:spcPts val="900"/>
              </a:spcAft>
              <a:buSzPct val="100000"/>
              <a:buChar char="•"/>
            </a:pPr>
            <a:r>
              <a:rPr lang="en-US" sz="1600" dirty="0">
                <a:solidFill>
                  <a:srgbClr val="0F172A"/>
                </a:solidFill>
              </a:rPr>
              <a:t>Every run logged for audit</a:t>
            </a:r>
            <a:endParaRPr lang="en-US" sz="1600" dirty="0"/>
          </a:p>
        </p:txBody>
      </p:sp>
      <p:sp>
        <p:nvSpPr>
          <p:cNvPr id="11" name="model caption"/>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1600" i="1" dirty="0">
                <a:solidFill>
                  <a:schemeClr val="accent1"/>
                </a:solidFill>
              </a:rPr>
              <a:t>Primary openai/gpt-oss-120b · fallback openai/gpt-oss-20b · temperature 0 · JSON mode · 10–25 s per meeting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12 out of 12 tasks correct, including every trap</a:t>
            </a:r>
            <a:endParaRPr lang="en-US" sz="3400" dirty="0"/>
          </a:p>
        </p:txBody>
      </p:sp>
      <p:sp>
        <p:nvSpPr>
          <p:cNvPr id="3" name="results card"/>
          <p:cNvSpPr/>
          <p:nvPr/>
        </p:nvSpPr>
        <p:spPr>
          <a:xfrm>
            <a:off x="548640" y="1371600"/>
            <a:ext cx="5120640" cy="4754880"/>
          </a:xfrm>
          <a:prstGeom prst="roundRect">
            <a:avLst>
              <a:gd name="adj" fmla="val 1538"/>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accuracy stat"/>
          <p:cNvSpPr txBox="1"/>
          <p:nvPr/>
        </p:nvSpPr>
        <p:spPr>
          <a:xfrm>
            <a:off x="868680" y="1508760"/>
            <a:ext cx="4572000" cy="1097280"/>
          </a:xfrm>
          <a:prstGeom prst="rect">
            <a:avLst/>
          </a:prstGeom>
          <a:noFill/>
          <a:ln/>
        </p:spPr>
        <p:txBody>
          <a:bodyPr wrap="square" lIns="0" tIns="0" rIns="0" bIns="0" rtlCol="0" anchor="ctr"/>
          <a:lstStyle/>
          <a:p>
            <a:pPr indent="0" marL="0">
              <a:buNone/>
            </a:pPr>
            <a:r>
              <a:rPr lang="en-US" sz="6600" b="1" dirty="0">
                <a:solidFill>
                  <a:schemeClr val="accent1"/>
                </a:solidFill>
              </a:rPr>
              <a:t>12/12</a:t>
            </a:r>
            <a:endParaRPr lang="en-US" sz="6600" dirty="0"/>
          </a:p>
        </p:txBody>
      </p:sp>
      <p:sp>
        <p:nvSpPr>
          <p:cNvPr id="5" name="accuracy label"/>
          <p:cNvSpPr txBox="1"/>
          <p:nvPr/>
        </p:nvSpPr>
        <p:spPr>
          <a:xfrm>
            <a:off x="868680" y="2606040"/>
            <a:ext cx="4572000" cy="548640"/>
          </a:xfrm>
          <a:prstGeom prst="rect">
            <a:avLst/>
          </a:prstGeom>
          <a:noFill/>
          <a:ln/>
        </p:spPr>
        <p:txBody>
          <a:bodyPr wrap="square" lIns="0" tIns="0" rIns="0" bIns="0" rtlCol="0" anchor="ctr"/>
          <a:lstStyle/>
          <a:p>
            <a:pPr indent="0" marL="0">
              <a:buNone/>
            </a:pPr>
            <a:r>
              <a:rPr lang="en-US" sz="1500" dirty="0">
                <a:solidFill>
                  <a:srgbClr val="475569"/>
                </a:solidFill>
              </a:rPr>
              <a:t>tasks match the organizer answer key, with both AI models</a:t>
            </a:r>
            <a:endParaRPr lang="en-US" sz="1500" dirty="0"/>
          </a:p>
        </p:txBody>
      </p:sp>
      <p:sp>
        <p:nvSpPr>
          <p:cNvPr id="6" name="traps list"/>
          <p:cNvSpPr txBox="1"/>
          <p:nvPr/>
        </p:nvSpPr>
        <p:spPr>
          <a:xfrm>
            <a:off x="868680" y="3246120"/>
            <a:ext cx="4572000" cy="2743200"/>
          </a:xfrm>
          <a:prstGeom prst="rect">
            <a:avLst/>
          </a:prstGeom>
          <a:noFill/>
          <a:ln/>
        </p:spPr>
        <p:txBody>
          <a:bodyPr wrap="square" lIns="0" tIns="0" rIns="0" bIns="0" rtlCol="0" anchor="t"/>
          <a:lstStyle/>
          <a:p>
            <a:pPr indent="0" marL="0">
              <a:spcAft>
                <a:spcPts val="600"/>
              </a:spcAft>
              <a:buNone/>
            </a:pPr>
            <a:r>
              <a:rPr lang="en-US" sz="1500" dirty="0">
                <a:solidFill>
                  <a:srgbClr val="0F172A"/>
                </a:solidFill>
              </a:rPr>
              <a:t>✓  UrbanCart deadline 20 Oct, not 18</a:t>
            </a:r>
            <a:endParaRPr lang="en-US" sz="1500" dirty="0"/>
          </a:p>
          <a:p>
            <a:pPr indent="0" marL="0">
              <a:spcAft>
                <a:spcPts val="600"/>
              </a:spcAft>
              <a:buNone/>
            </a:pPr>
            <a:r>
              <a:rPr lang="en-US" sz="1500" dirty="0">
                <a:solidFill>
                  <a:srgbClr val="0F172A"/>
                </a:solidFill>
              </a:rPr>
              <a:t>✓  Integration task due 19 Oct, not 17</a:t>
            </a:r>
            <a:endParaRPr lang="en-US" sz="1500" dirty="0"/>
          </a:p>
          <a:p>
            <a:pPr indent="0" marL="0">
              <a:spcAft>
                <a:spcPts val="600"/>
              </a:spcAft>
              <a:buNone/>
            </a:pPr>
            <a:r>
              <a:rPr lang="en-US" sz="1500" dirty="0">
                <a:solidFill>
                  <a:srgbClr val="0F172A"/>
                </a:solidFill>
              </a:rPr>
              <a:t>✓  QuickServe integration 10 h, not 8</a:t>
            </a:r>
            <a:endParaRPr lang="en-US" sz="1500" dirty="0"/>
          </a:p>
          <a:p>
            <a:pPr indent="0" marL="0">
              <a:spcAft>
                <a:spcPts val="600"/>
              </a:spcAft>
              <a:buNone/>
            </a:pPr>
            <a:r>
              <a:rPr lang="en-US" sz="1500" dirty="0">
                <a:solidFill>
                  <a:srgbClr val="0F172A"/>
                </a:solidFill>
              </a:rPr>
              <a:t>✓  Testing owned by Maryam, not Zain</a:t>
            </a:r>
            <a:endParaRPr lang="en-US" sz="1500" dirty="0"/>
          </a:p>
          <a:p>
            <a:pPr indent="0" marL="0">
              <a:spcAft>
                <a:spcPts val="600"/>
              </a:spcAft>
              <a:buNone/>
            </a:pPr>
            <a:r>
              <a:rPr lang="en-US" sz="1500" dirty="0">
                <a:solidFill>
                  <a:srgbClr val="0F172A"/>
                </a:solidFill>
              </a:rPr>
              <a:t>✓  Kamran (client contact) gets nothing</a:t>
            </a:r>
            <a:endParaRPr lang="en-US" sz="1500" dirty="0"/>
          </a:p>
          <a:p>
            <a:pPr indent="0" marL="0">
              <a:spcAft>
                <a:spcPts val="600"/>
              </a:spcAft>
              <a:buNone/>
            </a:pPr>
            <a:r>
              <a:rPr lang="en-US" sz="1500" dirty="0">
                <a:solidFill>
                  <a:srgbClr val="0F172A"/>
                </a:solidFill>
              </a:rPr>
              <a:t>✓  No payment, maps, inventory or email tasks</a:t>
            </a:r>
            <a:endParaRPr lang="en-US" sz="1500" dirty="0"/>
          </a:p>
        </p:txBody>
      </p:sp>
      <p:sp>
        <p:nvSpPr>
          <p:cNvPr id="7" name="chart card"/>
          <p:cNvSpPr/>
          <p:nvPr/>
        </p:nvSpPr>
        <p:spPr>
          <a:xfrm>
            <a:off x="6035040" y="1371600"/>
            <a:ext cx="5608015" cy="4754880"/>
          </a:xfrm>
          <a:prstGeom prst="roundRect">
            <a:avLst>
              <a:gd name="adj" fmla="val 1538"/>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graphicFrame>
        <p:nvGraphicFramePr>
          <p:cNvPr id="8" name="hours chart" descr=""/>
          <p:cNvGraphicFramePr/>
          <p:nvPr/>
        </p:nvGraphicFramePr>
        <p:xfrm>
          <a:off x="6263640" y="1554480"/>
          <a:ext cx="5150815" cy="4389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Change the meeting, and the plan changes with it</a:t>
            </a:r>
            <a:endParaRPr lang="en-US" sz="3400" dirty="0"/>
          </a:p>
        </p:txBody>
      </p:sp>
      <p:sp>
        <p:nvSpPr>
          <p:cNvPr id="3" name="compare 1"/>
          <p:cNvSpPr/>
          <p:nvPr/>
        </p:nvSpPr>
        <p:spPr>
          <a:xfrm>
            <a:off x="548640" y="1463040"/>
            <a:ext cx="4480560" cy="2468880"/>
          </a:xfrm>
          <a:prstGeom prst="roundRect">
            <a:avLst>
              <a:gd name="adj" fmla="val 2963"/>
            </a:avLst>
          </a:prstGeom>
          <a:solidFill>
            <a:srgbClr val="F1F5F9"/>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compare 1 head"/>
          <p:cNvSpPr txBox="1"/>
          <p:nvPr/>
        </p:nvSpPr>
        <p:spPr>
          <a:xfrm>
            <a:off x="868680" y="1691640"/>
            <a:ext cx="3840480" cy="365760"/>
          </a:xfrm>
          <a:prstGeom prst="rect">
            <a:avLst/>
          </a:prstGeom>
          <a:noFill/>
          <a:ln/>
        </p:spPr>
        <p:txBody>
          <a:bodyPr wrap="square" lIns="0" tIns="0" rIns="0" bIns="0" rtlCol="0" anchor="ctr"/>
          <a:lstStyle/>
          <a:p>
            <a:pPr indent="0" marL="0">
              <a:buNone/>
            </a:pPr>
            <a:r>
              <a:rPr lang="en-US" sz="1600" b="1" dirty="0">
                <a:solidFill>
                  <a:srgbClr val="475569"/>
                </a:solidFill>
              </a:rPr>
              <a:t>Supplied transcript</a:t>
            </a:r>
            <a:endParaRPr lang="en-US" sz="1600" dirty="0"/>
          </a:p>
        </p:txBody>
      </p:sp>
      <p:sp>
        <p:nvSpPr>
          <p:cNvPr id="5" name="compare 1 task"/>
          <p:cNvSpPr txBox="1"/>
          <p:nvPr/>
        </p:nvSpPr>
        <p:spPr>
          <a:xfrm>
            <a:off x="868680" y="2057400"/>
            <a:ext cx="3840480" cy="365760"/>
          </a:xfrm>
          <a:prstGeom prst="rect">
            <a:avLst/>
          </a:prstGeom>
          <a:noFill/>
          <a:ln/>
        </p:spPr>
        <p:txBody>
          <a:bodyPr wrap="square" lIns="0" tIns="0" rIns="0" bIns="0" rtlCol="0" anchor="ctr"/>
          <a:lstStyle/>
          <a:p>
            <a:pPr indent="0" marL="0">
              <a:buNone/>
            </a:pPr>
            <a:r>
              <a:rPr lang="en-US" sz="1400" dirty="0">
                <a:solidFill>
                  <a:srgbClr val="475569"/>
                </a:solidFill>
              </a:rPr>
              <a:t>Mobile integration and testing · Usman</a:t>
            </a:r>
            <a:endParaRPr lang="en-US" sz="1400" dirty="0"/>
          </a:p>
        </p:txBody>
      </p:sp>
      <p:sp>
        <p:nvSpPr>
          <p:cNvPr id="6" name="compare 1 value"/>
          <p:cNvSpPr txBox="1"/>
          <p:nvPr/>
        </p:nvSpPr>
        <p:spPr>
          <a:xfrm>
            <a:off x="868680" y="2468880"/>
            <a:ext cx="3840480" cy="822960"/>
          </a:xfrm>
          <a:prstGeom prst="rect">
            <a:avLst/>
          </a:prstGeom>
          <a:noFill/>
          <a:ln/>
        </p:spPr>
        <p:txBody>
          <a:bodyPr wrap="square" lIns="0" tIns="0" rIns="0" bIns="0" rtlCol="0" anchor="ctr"/>
          <a:lstStyle/>
          <a:p>
            <a:pPr indent="0" marL="0">
              <a:buNone/>
            </a:pPr>
            <a:r>
              <a:rPr lang="en-US" sz="4800" b="1" dirty="0">
                <a:solidFill>
                  <a:srgbClr val="475569"/>
                </a:solidFill>
              </a:rPr>
              <a:t>10 h</a:t>
            </a:r>
            <a:pPr indent="0" marL="0">
              <a:buNone/>
            </a:pPr>
            <a:r>
              <a:rPr lang="en-US" sz="1800" dirty="0">
                <a:solidFill>
                  <a:srgbClr val="0F172A"/>
                </a:solidFill>
              </a:rPr>
              <a:t>   due 22 Oct 2026</a:t>
            </a:r>
            <a:endParaRPr lang="en-US" sz="4800" dirty="0"/>
          </a:p>
        </p:txBody>
      </p:sp>
      <p:sp>
        <p:nvSpPr>
          <p:cNvPr id="7" name="compare 1 total"/>
          <p:cNvSpPr txBox="1"/>
          <p:nvPr/>
        </p:nvSpPr>
        <p:spPr>
          <a:xfrm>
            <a:off x="868680" y="3337560"/>
            <a:ext cx="3840480" cy="365760"/>
          </a:xfrm>
          <a:prstGeom prst="rect">
            <a:avLst/>
          </a:prstGeom>
          <a:noFill/>
          <a:ln/>
        </p:spPr>
        <p:txBody>
          <a:bodyPr wrap="square" lIns="0" tIns="0" rIns="0" bIns="0" rtlCol="0" anchor="ctr"/>
          <a:lstStyle/>
          <a:p>
            <a:pPr indent="0" marL="0">
              <a:buNone/>
            </a:pPr>
            <a:r>
              <a:rPr lang="en-US" sz="1500" b="1" dirty="0">
                <a:solidFill>
                  <a:srgbClr val="0F172A"/>
                </a:solidFill>
              </a:rPr>
              <a:t>QuickServe total: 46 h</a:t>
            </a:r>
            <a:endParaRPr lang="en-US" sz="1500" dirty="0"/>
          </a:p>
        </p:txBody>
      </p:sp>
      <p:sp>
        <p:nvSpPr>
          <p:cNvPr id="8" name="compare 2"/>
          <p:cNvSpPr/>
          <p:nvPr/>
        </p:nvSpPr>
        <p:spPr>
          <a:xfrm>
            <a:off x="7162495" y="1463040"/>
            <a:ext cx="4480560" cy="2468880"/>
          </a:xfrm>
          <a:prstGeom prst="roundRect">
            <a:avLst>
              <a:gd name="adj" fmla="val 2963"/>
            </a:avLst>
          </a:prstGeom>
          <a:solidFill>
            <a:srgbClr val="EEF2FF"/>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9" name="compare 2 head"/>
          <p:cNvSpPr txBox="1"/>
          <p:nvPr/>
        </p:nvSpPr>
        <p:spPr>
          <a:xfrm>
            <a:off x="7482535" y="1691640"/>
            <a:ext cx="3840480" cy="365760"/>
          </a:xfrm>
          <a:prstGeom prst="rect">
            <a:avLst/>
          </a:prstGeom>
          <a:noFill/>
          <a:ln/>
        </p:spPr>
        <p:txBody>
          <a:bodyPr wrap="square" lIns="0" tIns="0" rIns="0" bIns="0" rtlCol="0" anchor="ctr"/>
          <a:lstStyle/>
          <a:p>
            <a:pPr indent="0" marL="0">
              <a:buNone/>
            </a:pPr>
            <a:r>
              <a:rPr lang="en-US" sz="1600" b="1" dirty="0">
                <a:solidFill>
                  <a:srgbClr val="4F46E5"/>
                </a:solidFill>
              </a:rPr>
              <a:t>Changed transcript</a:t>
            </a:r>
            <a:endParaRPr lang="en-US" sz="1600" dirty="0"/>
          </a:p>
        </p:txBody>
      </p:sp>
      <p:sp>
        <p:nvSpPr>
          <p:cNvPr id="10" name="compare 2 task"/>
          <p:cNvSpPr txBox="1"/>
          <p:nvPr/>
        </p:nvSpPr>
        <p:spPr>
          <a:xfrm>
            <a:off x="7482535" y="2057400"/>
            <a:ext cx="3840480" cy="365760"/>
          </a:xfrm>
          <a:prstGeom prst="rect">
            <a:avLst/>
          </a:prstGeom>
          <a:noFill/>
          <a:ln/>
        </p:spPr>
        <p:txBody>
          <a:bodyPr wrap="square" lIns="0" tIns="0" rIns="0" bIns="0" rtlCol="0" anchor="ctr"/>
          <a:lstStyle/>
          <a:p>
            <a:pPr indent="0" marL="0">
              <a:buNone/>
            </a:pPr>
            <a:r>
              <a:rPr lang="en-US" sz="1400" dirty="0">
                <a:solidFill>
                  <a:srgbClr val="475569"/>
                </a:solidFill>
              </a:rPr>
              <a:t>Mobile integration and testing · Usman</a:t>
            </a:r>
            <a:endParaRPr lang="en-US" sz="1400" dirty="0"/>
          </a:p>
        </p:txBody>
      </p:sp>
      <p:sp>
        <p:nvSpPr>
          <p:cNvPr id="11" name="compare 2 value"/>
          <p:cNvSpPr txBox="1"/>
          <p:nvPr/>
        </p:nvSpPr>
        <p:spPr>
          <a:xfrm>
            <a:off x="7482535" y="2468880"/>
            <a:ext cx="3840480" cy="822960"/>
          </a:xfrm>
          <a:prstGeom prst="rect">
            <a:avLst/>
          </a:prstGeom>
          <a:noFill/>
          <a:ln/>
        </p:spPr>
        <p:txBody>
          <a:bodyPr wrap="square" lIns="0" tIns="0" rIns="0" bIns="0" rtlCol="0" anchor="ctr"/>
          <a:lstStyle/>
          <a:p>
            <a:pPr indent="0" marL="0">
              <a:buNone/>
            </a:pPr>
            <a:r>
              <a:rPr lang="en-US" sz="4800" b="1" dirty="0">
                <a:solidFill>
                  <a:srgbClr val="4F46E5"/>
                </a:solidFill>
              </a:rPr>
              <a:t>12 h</a:t>
            </a:r>
            <a:pPr indent="0" marL="0">
              <a:buNone/>
            </a:pPr>
            <a:r>
              <a:rPr lang="en-US" sz="1800" dirty="0">
                <a:solidFill>
                  <a:srgbClr val="0F172A"/>
                </a:solidFill>
              </a:rPr>
              <a:t>   due 23 Oct 2026</a:t>
            </a:r>
            <a:endParaRPr lang="en-US" sz="4800" dirty="0"/>
          </a:p>
        </p:txBody>
      </p:sp>
      <p:sp>
        <p:nvSpPr>
          <p:cNvPr id="12" name="compare 2 total"/>
          <p:cNvSpPr txBox="1"/>
          <p:nvPr/>
        </p:nvSpPr>
        <p:spPr>
          <a:xfrm>
            <a:off x="7482535" y="3337560"/>
            <a:ext cx="3840480" cy="365760"/>
          </a:xfrm>
          <a:prstGeom prst="rect">
            <a:avLst/>
          </a:prstGeom>
          <a:noFill/>
          <a:ln/>
        </p:spPr>
        <p:txBody>
          <a:bodyPr wrap="square" lIns="0" tIns="0" rIns="0" bIns="0" rtlCol="0" anchor="ctr"/>
          <a:lstStyle/>
          <a:p>
            <a:pPr indent="0" marL="0">
              <a:buNone/>
            </a:pPr>
            <a:r>
              <a:rPr lang="en-US" sz="1500" b="1" dirty="0">
                <a:solidFill>
                  <a:srgbClr val="0F172A"/>
                </a:solidFill>
              </a:rPr>
              <a:t>QuickServe total: 48 h</a:t>
            </a:r>
            <a:endParaRPr lang="en-US" sz="1500" dirty="0"/>
          </a:p>
        </p:txBody>
      </p:sp>
      <p:sp>
        <p:nvSpPr>
          <p:cNvPr id="13" name="compare arrow"/>
          <p:cNvSpPr/>
          <p:nvPr/>
        </p:nvSpPr>
        <p:spPr>
          <a:xfrm>
            <a:off x="5623560" y="2377440"/>
            <a:ext cx="914400" cy="640080"/>
          </a:xfrm>
          <a:prstGeom prst="rightArrow">
            <a:avLst/>
          </a:prstGeom>
          <a:solidFill>
            <a:schemeClr val="accent1"/>
          </a:solidFill>
          <a:ln w="12700">
            <a:solidFill>
              <a:srgbClr val="4F46E5"/>
            </a:solidFill>
            <a:prstDash val="solid"/>
          </a:ln>
        </p:spPr>
      </p:sp>
      <p:sp>
        <p:nvSpPr>
          <p:cNvPr id="14" name="chip 1"/>
          <p:cNvSpPr/>
          <p:nvPr/>
        </p:nvSpPr>
        <p:spPr>
          <a:xfrm>
            <a:off x="548640" y="4343400"/>
            <a:ext cx="3454298" cy="1463040"/>
          </a:xfrm>
          <a:prstGeom prst="roundRect">
            <a:avLst>
              <a:gd name="adj" fmla="val 500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5" name="chip 1"/>
          <p:cNvSpPr txBox="1"/>
          <p:nvPr/>
        </p:nvSpPr>
        <p:spPr>
          <a:xfrm>
            <a:off x="868680" y="4343400"/>
            <a:ext cx="2814218" cy="1463040"/>
          </a:xfrm>
          <a:prstGeom prst="rect">
            <a:avLst/>
          </a:prstGeom>
          <a:noFill/>
          <a:ln/>
        </p:spPr>
        <p:txBody>
          <a:bodyPr wrap="square" lIns="0" tIns="0" rIns="0" bIns="0" rtlCol="0" anchor="ctr"/>
          <a:lstStyle/>
          <a:p>
            <a:pPr indent="0" marL="0">
              <a:buNone/>
            </a:pPr>
            <a:r>
              <a:rPr lang="en-US" sz="3600" b="1" dirty="0">
                <a:solidFill>
                  <a:srgbClr val="0D9488"/>
                </a:solidFill>
              </a:rPr>
              <a:t>11</a:t>
            </a:r>
            <a:endParaRPr lang="en-US" sz="3600" dirty="0"/>
          </a:p>
          <a:p>
            <a:pPr indent="0" marL="0">
              <a:buNone/>
            </a:pPr>
            <a:r>
              <a:rPr lang="en-US" sz="1600" dirty="0">
                <a:solidFill>
                  <a:srgbClr val="0F172A"/>
                </a:solidFill>
              </a:rPr>
              <a:t>other tasks unchanged</a:t>
            </a:r>
            <a:endParaRPr lang="en-US" sz="3600" dirty="0"/>
          </a:p>
        </p:txBody>
      </p:sp>
      <p:sp>
        <p:nvSpPr>
          <p:cNvPr id="16" name="chip 2"/>
          <p:cNvSpPr/>
          <p:nvPr/>
        </p:nvSpPr>
        <p:spPr>
          <a:xfrm>
            <a:off x="4368698" y="4343400"/>
            <a:ext cx="3454298" cy="1463040"/>
          </a:xfrm>
          <a:prstGeom prst="roundRect">
            <a:avLst>
              <a:gd name="adj" fmla="val 500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7" name="chip 2"/>
          <p:cNvSpPr txBox="1"/>
          <p:nvPr/>
        </p:nvSpPr>
        <p:spPr>
          <a:xfrm>
            <a:off x="4688738" y="4343400"/>
            <a:ext cx="2814218" cy="1463040"/>
          </a:xfrm>
          <a:prstGeom prst="rect">
            <a:avLst/>
          </a:prstGeom>
          <a:noFill/>
          <a:ln/>
        </p:spPr>
        <p:txBody>
          <a:bodyPr wrap="square" lIns="0" tIns="0" rIns="0" bIns="0" rtlCol="0" anchor="ctr"/>
          <a:lstStyle/>
          <a:p>
            <a:pPr indent="0" marL="0">
              <a:buNone/>
            </a:pPr>
            <a:r>
              <a:rPr lang="en-US" sz="3600" b="1" dirty="0">
                <a:solidFill>
                  <a:srgbClr val="0D9488"/>
                </a:solidFill>
              </a:rPr>
              <a:t>~22 s</a:t>
            </a:r>
            <a:endParaRPr lang="en-US" sz="3600" dirty="0"/>
          </a:p>
          <a:p>
            <a:pPr indent="0" marL="0">
              <a:buNone/>
            </a:pPr>
            <a:r>
              <a:rPr lang="en-US" sz="1600" dirty="0">
                <a:solidFill>
                  <a:srgbClr val="0F172A"/>
                </a:solidFill>
              </a:rPr>
              <a:t>on the live site</a:t>
            </a:r>
            <a:endParaRPr lang="en-US" sz="3600" dirty="0"/>
          </a:p>
        </p:txBody>
      </p:sp>
      <p:sp>
        <p:nvSpPr>
          <p:cNvPr id="18" name="chip 3"/>
          <p:cNvSpPr/>
          <p:nvPr/>
        </p:nvSpPr>
        <p:spPr>
          <a:xfrm>
            <a:off x="8188757" y="4343400"/>
            <a:ext cx="3454298" cy="1463040"/>
          </a:xfrm>
          <a:prstGeom prst="roundRect">
            <a:avLst>
              <a:gd name="adj" fmla="val 500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9" name="chip 3"/>
          <p:cNvSpPr txBox="1"/>
          <p:nvPr/>
        </p:nvSpPr>
        <p:spPr>
          <a:xfrm>
            <a:off x="8508797" y="4343400"/>
            <a:ext cx="2814218" cy="1463040"/>
          </a:xfrm>
          <a:prstGeom prst="rect">
            <a:avLst/>
          </a:prstGeom>
          <a:noFill/>
          <a:ln/>
        </p:spPr>
        <p:txBody>
          <a:bodyPr wrap="square" lIns="0" tIns="0" rIns="0" bIns="0" rtlCol="0" anchor="ctr"/>
          <a:lstStyle/>
          <a:p>
            <a:pPr indent="0" marL="0">
              <a:buNone/>
            </a:pPr>
            <a:r>
              <a:rPr lang="en-US" sz="3600" b="1" dirty="0">
                <a:solidFill>
                  <a:srgbClr val="0D9488"/>
                </a:solidFill>
              </a:rPr>
              <a:t>0</a:t>
            </a:r>
            <a:endParaRPr lang="en-US" sz="3600" dirty="0"/>
          </a:p>
          <a:p>
            <a:pPr indent="0" marL="0">
              <a:buNone/>
            </a:pPr>
            <a:r>
              <a:rPr lang="en-US" sz="1600" dirty="0">
                <a:solidFill>
                  <a:srgbClr val="0F172A"/>
                </a:solidFill>
              </a:rPr>
              <a:t>hardcoded answers</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Everyone sees only their own work</a:t>
            </a:r>
            <a:endParaRPr lang="en-US" sz="3400" dirty="0"/>
          </a:p>
        </p:txBody>
      </p:sp>
      <p:sp>
        <p:nvSpPr>
          <p:cNvPr id="3" name="role 1"/>
          <p:cNvSpPr/>
          <p:nvPr/>
        </p:nvSpPr>
        <p:spPr>
          <a:xfrm>
            <a:off x="548640" y="1371600"/>
            <a:ext cx="3454298" cy="3246120"/>
          </a:xfrm>
          <a:prstGeom prst="roundRect">
            <a:avLst>
              <a:gd name="adj" fmla="val 2254"/>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role 1 header"/>
          <p:cNvSpPr/>
          <p:nvPr/>
        </p:nvSpPr>
        <p:spPr>
          <a:xfrm>
            <a:off x="822960" y="1645920"/>
            <a:ext cx="2905658" cy="548640"/>
          </a:xfrm>
          <a:prstGeom prst="roundRect">
            <a:avLst>
              <a:gd name="adj" fmla="val 13333"/>
            </a:avLst>
          </a:prstGeom>
          <a:solidFill>
            <a:schemeClr val="accent1"/>
          </a:solidFill>
          <a:ln w="12700">
            <a:solidFill>
              <a:schemeClr val="accent1"/>
            </a:solidFill>
            <a:prstDash val="solid"/>
          </a:ln>
        </p:spPr>
      </p:sp>
      <p:sp>
        <p:nvSpPr>
          <p:cNvPr id="5" name="role 1 header text"/>
          <p:cNvSpPr txBox="1"/>
          <p:nvPr/>
        </p:nvSpPr>
        <p:spPr>
          <a:xfrm>
            <a:off x="822960" y="1645920"/>
            <a:ext cx="2905658" cy="548640"/>
          </a:xfrm>
          <a:prstGeom prst="rect">
            <a:avLst/>
          </a:prstGeom>
          <a:noFill/>
          <a:ln/>
        </p:spPr>
        <p:txBody>
          <a:bodyPr wrap="square" lIns="0" tIns="0" rIns="0" bIns="0" rtlCol="0" anchor="ctr"/>
          <a:lstStyle/>
          <a:p>
            <a:pPr algn="ctr" indent="0" marL="0">
              <a:buNone/>
            </a:pPr>
            <a:r>
              <a:rPr lang="en-US" sz="1800" b="1" dirty="0">
                <a:solidFill>
                  <a:schemeClr val="bg1"/>
                </a:solidFill>
              </a:rPr>
              <a:t>Admin</a:t>
            </a:r>
            <a:endParaRPr lang="en-US" sz="1800" dirty="0"/>
          </a:p>
        </p:txBody>
      </p:sp>
      <p:sp>
        <p:nvSpPr>
          <p:cNvPr id="6" name="role 1 list"/>
          <p:cNvSpPr txBox="1"/>
          <p:nvPr/>
        </p:nvSpPr>
        <p:spPr>
          <a:xfrm>
            <a:off x="868680" y="2423160"/>
            <a:ext cx="2859938" cy="20574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0F172A"/>
                </a:solidFill>
              </a:rPr>
              <a:t>All projects and clients</a:t>
            </a:r>
            <a:endParaRPr lang="en-US" sz="1500" dirty="0"/>
          </a:p>
          <a:p>
            <a:pPr marL="228600" indent="-228600">
              <a:spcAft>
                <a:spcPts val="800"/>
              </a:spcAft>
              <a:buSzPct val="100000"/>
              <a:buChar char="•"/>
            </a:pPr>
            <a:r>
              <a:rPr lang="en-US" sz="1500" dirty="0">
                <a:solidFill>
                  <a:srgbClr val="0F172A"/>
                </a:solidFill>
              </a:rPr>
              <a:t>Create from Transcript</a:t>
            </a:r>
            <a:endParaRPr lang="en-US" sz="1500" dirty="0"/>
          </a:p>
          <a:p>
            <a:pPr marL="228600" indent="-228600">
              <a:spcAft>
                <a:spcPts val="800"/>
              </a:spcAft>
              <a:buSzPct val="100000"/>
              <a:buChar char="•"/>
            </a:pPr>
            <a:r>
              <a:rPr lang="en-US" sz="1500" dirty="0">
                <a:solidFill>
                  <a:srgbClr val="0F172A"/>
                </a:solidFill>
              </a:rPr>
              <a:t>Edit and rename clients</a:t>
            </a:r>
            <a:endParaRPr lang="en-US" sz="1500" dirty="0"/>
          </a:p>
          <a:p>
            <a:pPr marL="228600" indent="-228600">
              <a:spcAft>
                <a:spcPts val="800"/>
              </a:spcAft>
              <a:buSzPct val="100000"/>
              <a:buChar char="•"/>
            </a:pPr>
            <a:r>
              <a:rPr lang="en-US" sz="1500" dirty="0">
                <a:solidFill>
                  <a:srgbClr val="0F172A"/>
                </a:solidFill>
              </a:rPr>
              <a:t>Everyone's work in the team directory</a:t>
            </a:r>
            <a:endParaRPr lang="en-US" sz="1500" dirty="0"/>
          </a:p>
        </p:txBody>
      </p:sp>
      <p:sp>
        <p:nvSpPr>
          <p:cNvPr id="7" name="role 2"/>
          <p:cNvSpPr/>
          <p:nvPr/>
        </p:nvSpPr>
        <p:spPr>
          <a:xfrm>
            <a:off x="4368698" y="1371600"/>
            <a:ext cx="3454298" cy="3246120"/>
          </a:xfrm>
          <a:prstGeom prst="roundRect">
            <a:avLst>
              <a:gd name="adj" fmla="val 2254"/>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8" name="role 2 header"/>
          <p:cNvSpPr/>
          <p:nvPr/>
        </p:nvSpPr>
        <p:spPr>
          <a:xfrm>
            <a:off x="4643018" y="1645920"/>
            <a:ext cx="2905658" cy="548640"/>
          </a:xfrm>
          <a:prstGeom prst="roundRect">
            <a:avLst>
              <a:gd name="adj" fmla="val 13333"/>
            </a:avLst>
          </a:prstGeom>
          <a:solidFill>
            <a:schemeClr val="accent2"/>
          </a:solidFill>
          <a:ln w="12700">
            <a:solidFill>
              <a:schemeClr val="accent2"/>
            </a:solidFill>
            <a:prstDash val="solid"/>
          </a:ln>
        </p:spPr>
      </p:sp>
      <p:sp>
        <p:nvSpPr>
          <p:cNvPr id="9" name="role 2 header text"/>
          <p:cNvSpPr txBox="1"/>
          <p:nvPr/>
        </p:nvSpPr>
        <p:spPr>
          <a:xfrm>
            <a:off x="4643018" y="1645920"/>
            <a:ext cx="2905658" cy="548640"/>
          </a:xfrm>
          <a:prstGeom prst="rect">
            <a:avLst/>
          </a:prstGeom>
          <a:noFill/>
          <a:ln/>
        </p:spPr>
        <p:txBody>
          <a:bodyPr wrap="square" lIns="0" tIns="0" rIns="0" bIns="0" rtlCol="0" anchor="ctr"/>
          <a:lstStyle/>
          <a:p>
            <a:pPr algn="ctr" indent="0" marL="0">
              <a:buNone/>
            </a:pPr>
            <a:r>
              <a:rPr lang="en-US" sz="1800" b="1" dirty="0">
                <a:solidFill>
                  <a:schemeClr val="bg1"/>
                </a:solidFill>
              </a:rPr>
              <a:t>Manager · Ayesha</a:t>
            </a:r>
            <a:endParaRPr lang="en-US" sz="1800" dirty="0"/>
          </a:p>
        </p:txBody>
      </p:sp>
      <p:sp>
        <p:nvSpPr>
          <p:cNvPr id="10" name="role 2 list"/>
          <p:cNvSpPr txBox="1"/>
          <p:nvPr/>
        </p:nvSpPr>
        <p:spPr>
          <a:xfrm>
            <a:off x="4688738" y="2423160"/>
            <a:ext cx="2859938" cy="20574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0F172A"/>
                </a:solidFill>
              </a:rPr>
              <a:t>Only the projects she manages</a:t>
            </a:r>
            <a:endParaRPr lang="en-US" sz="1500" dirty="0"/>
          </a:p>
          <a:p>
            <a:pPr marL="228600" indent="-228600">
              <a:spcAft>
                <a:spcPts val="800"/>
              </a:spcAft>
              <a:buSzPct val="100000"/>
              <a:buChar char="•"/>
            </a:pPr>
            <a:r>
              <a:rPr lang="en-US" sz="1500" dirty="0">
                <a:solidFill>
                  <a:srgbClr val="0F172A"/>
                </a:solidFill>
              </a:rPr>
              <a:t>All tasks inside them</a:t>
            </a:r>
            <a:endParaRPr lang="en-US" sz="1500" dirty="0"/>
          </a:p>
          <a:p>
            <a:pPr marL="228600" indent="-228600">
              <a:spcAft>
                <a:spcPts val="800"/>
              </a:spcAft>
              <a:buSzPct val="100000"/>
              <a:buChar char="•"/>
            </a:pPr>
            <a:r>
              <a:rPr lang="en-US" sz="1500" dirty="0">
                <a:solidFill>
                  <a:srgbClr val="0F172A"/>
                </a:solidFill>
              </a:rPr>
              <a:t>Edit her clients' contact details</a:t>
            </a:r>
            <a:endParaRPr lang="en-US" sz="1500" dirty="0"/>
          </a:p>
          <a:p>
            <a:pPr marL="228600" indent="-228600">
              <a:spcAft>
                <a:spcPts val="800"/>
              </a:spcAft>
              <a:buSzPct val="100000"/>
              <a:buChar char="•"/>
            </a:pPr>
            <a:r>
              <a:rPr lang="en-US" sz="1500" dirty="0">
                <a:solidFill>
                  <a:srgbClr val="0F172A"/>
                </a:solidFill>
              </a:rPr>
              <a:t>Team members' work in her projects only</a:t>
            </a:r>
            <a:endParaRPr lang="en-US" sz="1500" dirty="0"/>
          </a:p>
        </p:txBody>
      </p:sp>
      <p:sp>
        <p:nvSpPr>
          <p:cNvPr id="11" name="role 3"/>
          <p:cNvSpPr/>
          <p:nvPr/>
        </p:nvSpPr>
        <p:spPr>
          <a:xfrm>
            <a:off x="8188757" y="1371600"/>
            <a:ext cx="3454298" cy="3246120"/>
          </a:xfrm>
          <a:prstGeom prst="roundRect">
            <a:avLst>
              <a:gd name="adj" fmla="val 2254"/>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2" name="role 3 header"/>
          <p:cNvSpPr/>
          <p:nvPr/>
        </p:nvSpPr>
        <p:spPr>
          <a:xfrm>
            <a:off x="8463077" y="1645920"/>
            <a:ext cx="2905658" cy="548640"/>
          </a:xfrm>
          <a:prstGeom prst="roundRect">
            <a:avLst>
              <a:gd name="adj" fmla="val 13333"/>
            </a:avLst>
          </a:prstGeom>
          <a:solidFill>
            <a:schemeClr val="accent3"/>
          </a:solidFill>
          <a:ln w="12700">
            <a:solidFill>
              <a:schemeClr val="accent3"/>
            </a:solidFill>
            <a:prstDash val="solid"/>
          </a:ln>
        </p:spPr>
      </p:sp>
      <p:sp>
        <p:nvSpPr>
          <p:cNvPr id="13" name="role 3 header text"/>
          <p:cNvSpPr txBox="1"/>
          <p:nvPr/>
        </p:nvSpPr>
        <p:spPr>
          <a:xfrm>
            <a:off x="8463077" y="1645920"/>
            <a:ext cx="2905658" cy="548640"/>
          </a:xfrm>
          <a:prstGeom prst="rect">
            <a:avLst/>
          </a:prstGeom>
          <a:noFill/>
          <a:ln/>
        </p:spPr>
        <p:txBody>
          <a:bodyPr wrap="square" lIns="0" tIns="0" rIns="0" bIns="0" rtlCol="0" anchor="ctr"/>
          <a:lstStyle/>
          <a:p>
            <a:pPr algn="ctr" indent="0" marL="0">
              <a:buNone/>
            </a:pPr>
            <a:r>
              <a:rPr lang="en-US" sz="1800" b="1" dirty="0">
                <a:solidFill>
                  <a:schemeClr val="bg1"/>
                </a:solidFill>
              </a:rPr>
              <a:t>Agent · Ali</a:t>
            </a:r>
            <a:endParaRPr lang="en-US" sz="1800" dirty="0"/>
          </a:p>
        </p:txBody>
      </p:sp>
      <p:sp>
        <p:nvSpPr>
          <p:cNvPr id="14" name="role 3 list"/>
          <p:cNvSpPr txBox="1"/>
          <p:nvPr/>
        </p:nvSpPr>
        <p:spPr>
          <a:xfrm>
            <a:off x="8508797" y="2423160"/>
            <a:ext cx="2859938" cy="20574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0F172A"/>
                </a:solidFill>
              </a:rPr>
              <a:t>Only his own tasks (3 of 12)</a:t>
            </a:r>
            <a:endParaRPr lang="en-US" sz="1500" dirty="0"/>
          </a:p>
          <a:p>
            <a:pPr marL="228600" indent="-228600">
              <a:spcAft>
                <a:spcPts val="800"/>
              </a:spcAft>
              <a:buSzPct val="100000"/>
              <a:buChar char="•"/>
            </a:pPr>
            <a:r>
              <a:rPr lang="en-US" sz="1500" dirty="0">
                <a:solidFill>
                  <a:srgbClr val="0F172A"/>
                </a:solidFill>
              </a:rPr>
              <a:t>Project name and manager for context</a:t>
            </a:r>
            <a:endParaRPr lang="en-US" sz="1500" dirty="0"/>
          </a:p>
          <a:p>
            <a:pPr marL="228600" indent="-228600">
              <a:spcAft>
                <a:spcPts val="800"/>
              </a:spcAft>
              <a:buSzPct val="100000"/>
              <a:buChar char="•"/>
            </a:pPr>
            <a:r>
              <a:rPr lang="en-US" sz="1500" dirty="0">
                <a:solidFill>
                  <a:srgbClr val="0F172A"/>
                </a:solidFill>
              </a:rPr>
              <a:t>Client contacts, without internal notes</a:t>
            </a:r>
            <a:endParaRPr lang="en-US" sz="1500" dirty="0"/>
          </a:p>
          <a:p>
            <a:pPr marL="228600" indent="-228600">
              <a:spcAft>
                <a:spcPts val="800"/>
              </a:spcAft>
              <a:buSzPct val="100000"/>
              <a:buChar char="•"/>
            </a:pPr>
            <a:r>
              <a:rPr lang="en-US" sz="1500" dirty="0">
                <a:solidFill>
                  <a:srgbClr val="0F172A"/>
                </a:solidFill>
              </a:rPr>
              <a:t>Other projects: 403 Access denied</a:t>
            </a:r>
            <a:endParaRPr lang="en-US" sz="1500" dirty="0"/>
          </a:p>
        </p:txBody>
      </p:sp>
      <p:sp>
        <p:nvSpPr>
          <p:cNvPr id="15" name="enforcement banner"/>
          <p:cNvSpPr/>
          <p:nvPr/>
        </p:nvSpPr>
        <p:spPr>
          <a:xfrm>
            <a:off x="548640" y="4937760"/>
            <a:ext cx="11094415" cy="868680"/>
          </a:xfrm>
          <a:prstGeom prst="roundRect">
            <a:avLst>
              <a:gd name="adj" fmla="val 8421"/>
            </a:avLst>
          </a:prstGeom>
          <a:solidFill>
            <a:srgbClr val="EEF2FF"/>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6" name="enforcement text"/>
          <p:cNvSpPr txBox="1"/>
          <p:nvPr/>
        </p:nvSpPr>
        <p:spPr>
          <a:xfrm>
            <a:off x="868680" y="4937760"/>
            <a:ext cx="10454335" cy="868680"/>
          </a:xfrm>
          <a:prstGeom prst="rect">
            <a:avLst/>
          </a:prstGeom>
          <a:noFill/>
          <a:ln/>
        </p:spPr>
        <p:txBody>
          <a:bodyPr wrap="square" lIns="0" tIns="0" rIns="0" bIns="0" rtlCol="0" anchor="ctr"/>
          <a:lstStyle/>
          <a:p>
            <a:pPr indent="0" marL="0">
              <a:buNone/>
            </a:pPr>
            <a:r>
              <a:rPr lang="en-US" sz="1500" b="1" dirty="0">
                <a:solidFill>
                  <a:srgbClr val="4F46E5"/>
                </a:solidFill>
              </a:rPr>
              <a:t>Enforced in the database queries, not just hidden in the UI. </a:t>
            </a:r>
            <a:pPr indent="0" marL="0">
              <a:buNone/>
            </a:pPr>
            <a:r>
              <a:rPr lang="en-US" sz="1500" dirty="0">
                <a:solidFill>
                  <a:srgbClr val="0F172A"/>
                </a:solidFill>
              </a:rPr>
              <a:t>The user comes from a signed httpOnly cookie, never from the request; opening another person's project or client returns 403.</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What we built: a complete CRM, not just a demo</a:t>
            </a:r>
            <a:endParaRPr lang="en-US" sz="3400" dirty="0"/>
          </a:p>
        </p:txBody>
      </p:sp>
      <p:sp>
        <p:nvSpPr>
          <p:cNvPr id="3" name="dashboard frame"/>
          <p:cNvSpPr/>
          <p:nvPr/>
        </p:nvSpPr>
        <p:spPr>
          <a:xfrm>
            <a:off x="512064" y="12893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4" name="dashboard screenshot" descr="Admin dashboard">    </p:cNvPr>
          <p:cNvPicPr>
            <a:picLocks noChangeAspect="1"/>
          </p:cNvPicPr>
          <p:nvPr/>
        </p:nvPicPr>
        <p:blipFill>
          <a:blip r:embed="rId1"/>
          <a:stretch>
            <a:fillRect/>
          </a:stretch>
        </p:blipFill>
        <p:spPr>
          <a:xfrm>
            <a:off x="548640" y="1325880"/>
            <a:ext cx="3383280" cy="2114550"/>
          </a:xfrm>
          <a:prstGeom prst="rect">
            <a:avLst/>
          </a:prstGeom>
        </p:spPr>
      </p:pic>
      <p:sp>
        <p:nvSpPr>
          <p:cNvPr id="5" name="dashboard caption"/>
          <p:cNvSpPr txBox="1"/>
          <p:nvPr/>
        </p:nvSpPr>
        <p:spPr>
          <a:xfrm>
            <a:off x="548640" y="35135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Admin dashboard</a:t>
            </a:r>
            <a:endParaRPr lang="en-US" sz="1300" dirty="0"/>
          </a:p>
        </p:txBody>
      </p:sp>
      <p:sp>
        <p:nvSpPr>
          <p:cNvPr id="6" name="project frame"/>
          <p:cNvSpPr/>
          <p:nvPr/>
        </p:nvSpPr>
        <p:spPr>
          <a:xfrm>
            <a:off x="4367632" y="12893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7" name="project screenshot" descr="Project detail and tasks">    </p:cNvPr>
          <p:cNvPicPr>
            <a:picLocks noChangeAspect="1"/>
          </p:cNvPicPr>
          <p:nvPr/>
        </p:nvPicPr>
        <p:blipFill>
          <a:blip r:embed="rId2"/>
          <a:stretch>
            <a:fillRect/>
          </a:stretch>
        </p:blipFill>
        <p:spPr>
          <a:xfrm>
            <a:off x="4404208" y="1325880"/>
            <a:ext cx="3383280" cy="2114550"/>
          </a:xfrm>
          <a:prstGeom prst="rect">
            <a:avLst/>
          </a:prstGeom>
        </p:spPr>
      </p:pic>
      <p:sp>
        <p:nvSpPr>
          <p:cNvPr id="8" name="project caption"/>
          <p:cNvSpPr txBox="1"/>
          <p:nvPr/>
        </p:nvSpPr>
        <p:spPr>
          <a:xfrm>
            <a:off x="4404208" y="35135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Project detail and tasks</a:t>
            </a:r>
            <a:endParaRPr lang="en-US" sz="1300" dirty="0"/>
          </a:p>
        </p:txBody>
      </p:sp>
      <p:sp>
        <p:nvSpPr>
          <p:cNvPr id="9" name="mytasks frame"/>
          <p:cNvSpPr/>
          <p:nvPr/>
        </p:nvSpPr>
        <p:spPr>
          <a:xfrm>
            <a:off x="8223199" y="12893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10" name="mytasks screenshot" descr="Agent: My Tasks">    </p:cNvPr>
          <p:cNvPicPr>
            <a:picLocks noChangeAspect="1"/>
          </p:cNvPicPr>
          <p:nvPr/>
        </p:nvPicPr>
        <p:blipFill>
          <a:blip r:embed="rId3"/>
          <a:stretch>
            <a:fillRect/>
          </a:stretch>
        </p:blipFill>
        <p:spPr>
          <a:xfrm>
            <a:off x="8259775" y="1325880"/>
            <a:ext cx="3383280" cy="2114550"/>
          </a:xfrm>
          <a:prstGeom prst="rect">
            <a:avLst/>
          </a:prstGeom>
        </p:spPr>
      </p:pic>
      <p:sp>
        <p:nvSpPr>
          <p:cNvPr id="11" name="mytasks caption"/>
          <p:cNvSpPr txBox="1"/>
          <p:nvPr/>
        </p:nvSpPr>
        <p:spPr>
          <a:xfrm>
            <a:off x="8259775" y="35135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Agent: My Tasks</a:t>
            </a:r>
            <a:endParaRPr lang="en-US" sz="1300" dirty="0"/>
          </a:p>
        </p:txBody>
      </p:sp>
      <p:sp>
        <p:nvSpPr>
          <p:cNvPr id="12" name="client frame"/>
          <p:cNvSpPr/>
          <p:nvPr/>
        </p:nvSpPr>
        <p:spPr>
          <a:xfrm>
            <a:off x="512064" y="38039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13" name="client screenshot" descr="Clients (CRM) with contacts">    </p:cNvPr>
          <p:cNvPicPr>
            <a:picLocks noChangeAspect="1"/>
          </p:cNvPicPr>
          <p:nvPr/>
        </p:nvPicPr>
        <p:blipFill>
          <a:blip r:embed="rId4"/>
          <a:stretch>
            <a:fillRect/>
          </a:stretch>
        </p:blipFill>
        <p:spPr>
          <a:xfrm>
            <a:off x="548640" y="3840480"/>
            <a:ext cx="3383280" cy="2114550"/>
          </a:xfrm>
          <a:prstGeom prst="rect">
            <a:avLst/>
          </a:prstGeom>
        </p:spPr>
      </p:pic>
      <p:sp>
        <p:nvSpPr>
          <p:cNvPr id="14" name="client caption"/>
          <p:cNvSpPr txBox="1"/>
          <p:nvPr/>
        </p:nvSpPr>
        <p:spPr>
          <a:xfrm>
            <a:off x="548640" y="60281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Clients (CRM) with contacts</a:t>
            </a:r>
            <a:endParaRPr lang="en-US" sz="1300" dirty="0"/>
          </a:p>
        </p:txBody>
      </p:sp>
      <p:sp>
        <p:nvSpPr>
          <p:cNvPr id="15" name="denied frame"/>
          <p:cNvSpPr/>
          <p:nvPr/>
        </p:nvSpPr>
        <p:spPr>
          <a:xfrm>
            <a:off x="4367632" y="38039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16" name="denied screenshot" descr="403: access denied">    </p:cNvPr>
          <p:cNvPicPr>
            <a:picLocks noChangeAspect="1"/>
          </p:cNvPicPr>
          <p:nvPr/>
        </p:nvPicPr>
        <p:blipFill>
          <a:blip r:embed="rId5"/>
          <a:stretch>
            <a:fillRect/>
          </a:stretch>
        </p:blipFill>
        <p:spPr>
          <a:xfrm>
            <a:off x="4404208" y="3840480"/>
            <a:ext cx="3383280" cy="2114550"/>
          </a:xfrm>
          <a:prstGeom prst="rect">
            <a:avLst/>
          </a:prstGeom>
        </p:spPr>
      </p:pic>
      <p:sp>
        <p:nvSpPr>
          <p:cNvPr id="17" name="denied caption"/>
          <p:cNvSpPr txBox="1"/>
          <p:nvPr/>
        </p:nvSpPr>
        <p:spPr>
          <a:xfrm>
            <a:off x="4404208" y="60281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403: access denied</a:t>
            </a:r>
            <a:endParaRPr lang="en-US" sz="1300" dirty="0"/>
          </a:p>
        </p:txBody>
      </p:sp>
      <p:sp>
        <p:nvSpPr>
          <p:cNvPr id="18" name="apidocs frame"/>
          <p:cNvSpPr/>
          <p:nvPr/>
        </p:nvSpPr>
        <p:spPr>
          <a:xfrm>
            <a:off x="8223199" y="3803904"/>
            <a:ext cx="3456432" cy="2187702"/>
          </a:xfrm>
          <a:prstGeom prst="roundRect">
            <a:avLst>
              <a:gd name="adj" fmla="val 2508"/>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19" name="apidocs screenshot" descr="Swagger API docs">    </p:cNvPr>
          <p:cNvPicPr>
            <a:picLocks noChangeAspect="1"/>
          </p:cNvPicPr>
          <p:nvPr/>
        </p:nvPicPr>
        <p:blipFill>
          <a:blip r:embed="rId6"/>
          <a:stretch>
            <a:fillRect/>
          </a:stretch>
        </p:blipFill>
        <p:spPr>
          <a:xfrm>
            <a:off x="8259775" y="3840480"/>
            <a:ext cx="3383280" cy="2114550"/>
          </a:xfrm>
          <a:prstGeom prst="rect">
            <a:avLst/>
          </a:prstGeom>
        </p:spPr>
      </p:pic>
      <p:sp>
        <p:nvSpPr>
          <p:cNvPr id="20" name="apidocs caption"/>
          <p:cNvSpPr txBox="1"/>
          <p:nvPr/>
        </p:nvSpPr>
        <p:spPr>
          <a:xfrm>
            <a:off x="8259775" y="6028182"/>
            <a:ext cx="3383280" cy="274320"/>
          </a:xfrm>
          <a:prstGeom prst="rect">
            <a:avLst/>
          </a:prstGeom>
          <a:noFill/>
          <a:ln/>
        </p:spPr>
        <p:txBody>
          <a:bodyPr wrap="square" lIns="0" tIns="0" rIns="0" bIns="0" rtlCol="0" anchor="ctr"/>
          <a:lstStyle/>
          <a:p>
            <a:pPr indent="0" marL="0">
              <a:buNone/>
            </a:pPr>
            <a:r>
              <a:rPr lang="en-US" sz="1300" b="1" dirty="0">
                <a:solidFill>
                  <a:srgbClr val="0F172A"/>
                </a:solidFill>
              </a:rPr>
              <a:t>Swagger API docs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Built to scale: a modular monolith</a:t>
            </a:r>
            <a:endParaRPr lang="en-US" sz="3400" dirty="0"/>
          </a:p>
        </p:txBody>
      </p:sp>
      <p:sp>
        <p:nvSpPr>
          <p:cNvPr id="3" name="layer 1"/>
          <p:cNvSpPr/>
          <p:nvPr/>
        </p:nvSpPr>
        <p:spPr>
          <a:xfrm>
            <a:off x="548640" y="1325880"/>
            <a:ext cx="5303520" cy="749808"/>
          </a:xfrm>
          <a:prstGeom prst="roundRect">
            <a:avLst>
              <a:gd name="adj" fmla="val 97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layer 1 text"/>
          <p:cNvSpPr txBox="1"/>
          <p:nvPr/>
        </p:nvSpPr>
        <p:spPr>
          <a:xfrm>
            <a:off x="777240" y="1325880"/>
            <a:ext cx="4937760" cy="749808"/>
          </a:xfrm>
          <a:prstGeom prst="rect">
            <a:avLst/>
          </a:prstGeom>
          <a:noFill/>
          <a:ln/>
        </p:spPr>
        <p:txBody>
          <a:bodyPr wrap="square" lIns="0" tIns="0" rIns="0" bIns="0" rtlCol="0" anchor="ctr"/>
          <a:lstStyle/>
          <a:p>
            <a:pPr indent="0" marL="0">
              <a:buNone/>
            </a:pPr>
            <a:r>
              <a:rPr lang="en-US" sz="1600" b="1" dirty="0">
                <a:solidFill>
                  <a:srgbClr val="0F172A"/>
                </a:solidFill>
              </a:rPr>
              <a:t>Browser: React pages</a:t>
            </a:r>
            <a:endParaRPr lang="en-US" sz="1600" dirty="0"/>
          </a:p>
          <a:p>
            <a:pPr indent="0" marL="0">
              <a:buNone/>
            </a:pPr>
            <a:r>
              <a:rPr lang="en-US" sz="1300" dirty="0">
                <a:solidFill>
                  <a:srgbClr val="475569"/>
                </a:solidFill>
              </a:rPr>
              <a:t>Login, dashboard, projects, tasks, clients, team</a:t>
            </a:r>
            <a:endParaRPr lang="en-US" sz="1600" dirty="0"/>
          </a:p>
        </p:txBody>
      </p:sp>
      <p:sp>
        <p:nvSpPr>
          <p:cNvPr id="5" name="layer arrow 1"/>
          <p:cNvSpPr/>
          <p:nvPr/>
        </p:nvSpPr>
        <p:spPr>
          <a:xfrm>
            <a:off x="3200400" y="2093976"/>
            <a:ext cx="0" cy="201168"/>
          </a:xfrm>
          <a:prstGeom prst="line">
            <a:avLst/>
          </a:prstGeom>
          <a:noFill/>
          <a:ln w="19050">
            <a:solidFill>
              <a:srgbClr val="64748B"/>
            </a:solidFill>
            <a:prstDash val="solid"/>
            <a:tailEnd type="triangle"/>
          </a:ln>
        </p:spPr>
      </p:sp>
      <p:sp>
        <p:nvSpPr>
          <p:cNvPr id="6" name="layer 2"/>
          <p:cNvSpPr/>
          <p:nvPr/>
        </p:nvSpPr>
        <p:spPr>
          <a:xfrm>
            <a:off x="548640" y="2313432"/>
            <a:ext cx="5303520" cy="749808"/>
          </a:xfrm>
          <a:prstGeom prst="roundRect">
            <a:avLst>
              <a:gd name="adj" fmla="val 97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7" name="layer 2 text"/>
          <p:cNvSpPr txBox="1"/>
          <p:nvPr/>
        </p:nvSpPr>
        <p:spPr>
          <a:xfrm>
            <a:off x="777240" y="2313432"/>
            <a:ext cx="4937760" cy="749808"/>
          </a:xfrm>
          <a:prstGeom prst="rect">
            <a:avLst/>
          </a:prstGeom>
          <a:noFill/>
          <a:ln/>
        </p:spPr>
        <p:txBody>
          <a:bodyPr wrap="square" lIns="0" tIns="0" rIns="0" bIns="0" rtlCol="0" anchor="ctr"/>
          <a:lstStyle/>
          <a:p>
            <a:pPr indent="0" marL="0">
              <a:buNone/>
            </a:pPr>
            <a:r>
              <a:rPr lang="en-US" sz="1600" b="1" dirty="0">
                <a:solidFill>
                  <a:srgbClr val="0F172A"/>
                </a:solidFill>
              </a:rPr>
              <a:t>API routes</a:t>
            </a:r>
            <a:endParaRPr lang="en-US" sz="1600" dirty="0"/>
          </a:p>
          <a:p>
            <a:pPr indent="0" marL="0">
              <a:buNone/>
            </a:pPr>
            <a:r>
              <a:rPr lang="en-US" sz="1300" dirty="0">
                <a:solidFill>
                  <a:srgbClr val="475569"/>
                </a:solidFill>
              </a:rPr>
              <a:t>Thin: parse request, call service, return JSON</a:t>
            </a:r>
            <a:endParaRPr lang="en-US" sz="1600" dirty="0"/>
          </a:p>
        </p:txBody>
      </p:sp>
      <p:sp>
        <p:nvSpPr>
          <p:cNvPr id="8" name="layer arrow 2"/>
          <p:cNvSpPr/>
          <p:nvPr/>
        </p:nvSpPr>
        <p:spPr>
          <a:xfrm>
            <a:off x="3200400" y="3081528"/>
            <a:ext cx="0" cy="201168"/>
          </a:xfrm>
          <a:prstGeom prst="line">
            <a:avLst/>
          </a:prstGeom>
          <a:noFill/>
          <a:ln w="19050">
            <a:solidFill>
              <a:srgbClr val="64748B"/>
            </a:solidFill>
            <a:prstDash val="solid"/>
            <a:tailEnd type="triangle"/>
          </a:ln>
        </p:spPr>
      </p:sp>
      <p:sp>
        <p:nvSpPr>
          <p:cNvPr id="9" name="layer 3"/>
          <p:cNvSpPr/>
          <p:nvPr/>
        </p:nvSpPr>
        <p:spPr>
          <a:xfrm>
            <a:off x="548640" y="3300984"/>
            <a:ext cx="5303520" cy="749808"/>
          </a:xfrm>
          <a:prstGeom prst="roundRect">
            <a:avLst>
              <a:gd name="adj" fmla="val 97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0" name="layer 3 text"/>
          <p:cNvSpPr txBox="1"/>
          <p:nvPr/>
        </p:nvSpPr>
        <p:spPr>
          <a:xfrm>
            <a:off x="777240" y="3300984"/>
            <a:ext cx="4937760" cy="749808"/>
          </a:xfrm>
          <a:prstGeom prst="rect">
            <a:avLst/>
          </a:prstGeom>
          <a:noFill/>
          <a:ln/>
        </p:spPr>
        <p:txBody>
          <a:bodyPr wrap="square" lIns="0" tIns="0" rIns="0" bIns="0" rtlCol="0" anchor="ctr"/>
          <a:lstStyle/>
          <a:p>
            <a:pPr indent="0" marL="0">
              <a:buNone/>
            </a:pPr>
            <a:r>
              <a:rPr lang="en-US" sz="1600" b="1" dirty="0">
                <a:solidFill>
                  <a:srgbClr val="0F172A"/>
                </a:solidFill>
              </a:rPr>
              <a:t>Services + access policies</a:t>
            </a:r>
            <a:endParaRPr lang="en-US" sz="1600" dirty="0"/>
          </a:p>
          <a:p>
            <a:pPr indent="0" marL="0">
              <a:buNone/>
            </a:pPr>
            <a:r>
              <a:rPr lang="en-US" sz="1300" dirty="0">
                <a:solidFill>
                  <a:srgbClr val="475569"/>
                </a:solidFill>
              </a:rPr>
              <a:t>Business logic; role filters in one place</a:t>
            </a:r>
            <a:endParaRPr lang="en-US" sz="1600" dirty="0"/>
          </a:p>
        </p:txBody>
      </p:sp>
      <p:sp>
        <p:nvSpPr>
          <p:cNvPr id="11" name="layer arrow 3"/>
          <p:cNvSpPr/>
          <p:nvPr/>
        </p:nvSpPr>
        <p:spPr>
          <a:xfrm>
            <a:off x="3200400" y="4069080"/>
            <a:ext cx="0" cy="201168"/>
          </a:xfrm>
          <a:prstGeom prst="line">
            <a:avLst/>
          </a:prstGeom>
          <a:noFill/>
          <a:ln w="19050">
            <a:solidFill>
              <a:srgbClr val="64748B"/>
            </a:solidFill>
            <a:prstDash val="solid"/>
            <a:tailEnd type="triangle"/>
          </a:ln>
        </p:spPr>
      </p:sp>
      <p:sp>
        <p:nvSpPr>
          <p:cNvPr id="12" name="layer 4"/>
          <p:cNvSpPr/>
          <p:nvPr/>
        </p:nvSpPr>
        <p:spPr>
          <a:xfrm>
            <a:off x="548640" y="4288536"/>
            <a:ext cx="5303520" cy="749808"/>
          </a:xfrm>
          <a:prstGeom prst="roundRect">
            <a:avLst>
              <a:gd name="adj" fmla="val 9756"/>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3" name="layer 4 text"/>
          <p:cNvSpPr txBox="1"/>
          <p:nvPr/>
        </p:nvSpPr>
        <p:spPr>
          <a:xfrm>
            <a:off x="777240" y="4288536"/>
            <a:ext cx="4937760" cy="749808"/>
          </a:xfrm>
          <a:prstGeom prst="rect">
            <a:avLst/>
          </a:prstGeom>
          <a:noFill/>
          <a:ln/>
        </p:spPr>
        <p:txBody>
          <a:bodyPr wrap="square" lIns="0" tIns="0" rIns="0" bIns="0" rtlCol="0" anchor="ctr"/>
          <a:lstStyle/>
          <a:p>
            <a:pPr indent="0" marL="0">
              <a:buNone/>
            </a:pPr>
            <a:r>
              <a:rPr lang="en-US" sz="1600" b="1" dirty="0">
                <a:solidFill>
                  <a:srgbClr val="0F172A"/>
                </a:solidFill>
              </a:rPr>
              <a:t>Repositories (Prisma)</a:t>
            </a:r>
            <a:endParaRPr lang="en-US" sz="1600" dirty="0"/>
          </a:p>
          <a:p>
            <a:pPr indent="0" marL="0">
              <a:buNone/>
            </a:pPr>
            <a:r>
              <a:rPr lang="en-US" sz="1300" dirty="0">
                <a:solidFill>
                  <a:srgbClr val="475569"/>
                </a:solidFill>
              </a:rPr>
              <a:t>The only layer that talks to the database</a:t>
            </a:r>
            <a:endParaRPr lang="en-US" sz="1600" dirty="0"/>
          </a:p>
        </p:txBody>
      </p:sp>
      <p:sp>
        <p:nvSpPr>
          <p:cNvPr id="14" name="layer arrow 4"/>
          <p:cNvSpPr/>
          <p:nvPr/>
        </p:nvSpPr>
        <p:spPr>
          <a:xfrm>
            <a:off x="3200400" y="5056632"/>
            <a:ext cx="0" cy="201168"/>
          </a:xfrm>
          <a:prstGeom prst="line">
            <a:avLst/>
          </a:prstGeom>
          <a:noFill/>
          <a:ln w="19050">
            <a:solidFill>
              <a:srgbClr val="64748B"/>
            </a:solidFill>
            <a:prstDash val="solid"/>
            <a:tailEnd type="triangle"/>
          </a:ln>
        </p:spPr>
      </p:sp>
      <p:sp>
        <p:nvSpPr>
          <p:cNvPr id="15" name="layer 5"/>
          <p:cNvSpPr/>
          <p:nvPr/>
        </p:nvSpPr>
        <p:spPr>
          <a:xfrm>
            <a:off x="548640" y="5276088"/>
            <a:ext cx="5303520" cy="749808"/>
          </a:xfrm>
          <a:prstGeom prst="roundRect">
            <a:avLst>
              <a:gd name="adj" fmla="val 9756"/>
            </a:avLst>
          </a:prstGeom>
          <a:solidFill>
            <a:srgbClr val="EEF2FF"/>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6" name="layer 5 text"/>
          <p:cNvSpPr txBox="1"/>
          <p:nvPr/>
        </p:nvSpPr>
        <p:spPr>
          <a:xfrm>
            <a:off x="777240" y="5276088"/>
            <a:ext cx="4937760" cy="749808"/>
          </a:xfrm>
          <a:prstGeom prst="rect">
            <a:avLst/>
          </a:prstGeom>
          <a:noFill/>
          <a:ln/>
        </p:spPr>
        <p:txBody>
          <a:bodyPr wrap="square" lIns="0" tIns="0" rIns="0" bIns="0" rtlCol="0" anchor="ctr"/>
          <a:lstStyle/>
          <a:p>
            <a:pPr indent="0" marL="0">
              <a:buNone/>
            </a:pPr>
            <a:r>
              <a:rPr lang="en-US" sz="1600" b="1" dirty="0">
                <a:solidFill>
                  <a:srgbClr val="0F172A"/>
                </a:solidFill>
              </a:rPr>
              <a:t>PostgreSQL on Aiven</a:t>
            </a:r>
            <a:endParaRPr lang="en-US" sz="1600" dirty="0"/>
          </a:p>
          <a:p>
            <a:pPr indent="0" marL="0">
              <a:buNone/>
            </a:pPr>
            <a:r>
              <a:rPr lang="en-US" sz="1300" dirty="0">
                <a:solidFill>
                  <a:srgbClr val="475569"/>
                </a:solidFill>
              </a:rPr>
              <a:t>Users, clients, projects, tasks, transcript runs</a:t>
            </a:r>
            <a:endParaRPr lang="en-US" sz="1600" dirty="0"/>
          </a:p>
        </p:txBody>
      </p:sp>
      <p:sp>
        <p:nvSpPr>
          <p:cNvPr id="17" name="ai provider"/>
          <p:cNvSpPr/>
          <p:nvPr/>
        </p:nvSpPr>
        <p:spPr>
          <a:xfrm>
            <a:off x="6400800" y="3150108"/>
            <a:ext cx="2194560" cy="1051560"/>
          </a:xfrm>
          <a:prstGeom prst="roundRect">
            <a:avLst>
              <a:gd name="adj" fmla="val 6957"/>
            </a:avLst>
          </a:prstGeom>
          <a:solidFill>
            <a:srgbClr val="EEF2FF"/>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18" name="ai provider text"/>
          <p:cNvSpPr txBox="1"/>
          <p:nvPr/>
        </p:nvSpPr>
        <p:spPr>
          <a:xfrm>
            <a:off x="6583680" y="3150108"/>
            <a:ext cx="1920240" cy="1051560"/>
          </a:xfrm>
          <a:prstGeom prst="rect">
            <a:avLst/>
          </a:prstGeom>
          <a:noFill/>
          <a:ln/>
        </p:spPr>
        <p:txBody>
          <a:bodyPr wrap="square" lIns="0" tIns="0" rIns="0" bIns="0" rtlCol="0" anchor="ctr"/>
          <a:lstStyle/>
          <a:p>
            <a:pPr indent="0" marL="0">
              <a:buNone/>
            </a:pPr>
            <a:r>
              <a:rPr lang="en-US" sz="1600" b="1" dirty="0">
                <a:solidFill>
                  <a:srgbClr val="4F46E5"/>
                </a:solidFill>
              </a:rPr>
              <a:t>AI provider</a:t>
            </a:r>
            <a:endParaRPr lang="en-US" sz="1600" dirty="0"/>
          </a:p>
          <a:p>
            <a:pPr indent="0" marL="0">
              <a:buNone/>
            </a:pPr>
            <a:r>
              <a:rPr lang="en-US" sz="1300" dirty="0">
                <a:solidFill>
                  <a:srgbClr val="475569"/>
                </a:solidFill>
              </a:rPr>
              <a:t>Groq, swappable</a:t>
            </a:r>
            <a:endParaRPr lang="en-US" sz="1600" dirty="0"/>
          </a:p>
        </p:txBody>
      </p:sp>
      <p:sp>
        <p:nvSpPr>
          <p:cNvPr id="19" name="services to ai arrow"/>
          <p:cNvSpPr/>
          <p:nvPr/>
        </p:nvSpPr>
        <p:spPr>
          <a:xfrm>
            <a:off x="5852160" y="3675888"/>
            <a:ext cx="548640" cy="0"/>
          </a:xfrm>
          <a:prstGeom prst="line">
            <a:avLst/>
          </a:prstGeom>
          <a:noFill/>
          <a:ln w="19050">
            <a:solidFill>
              <a:srgbClr val="64748B"/>
            </a:solidFill>
            <a:prstDash val="solid"/>
            <a:tailEnd type="triangle"/>
          </a:ln>
        </p:spPr>
      </p:sp>
      <p:sp>
        <p:nvSpPr>
          <p:cNvPr id="20" name="stack heading"/>
          <p:cNvSpPr txBox="1"/>
          <p:nvPr/>
        </p:nvSpPr>
        <p:spPr>
          <a:xfrm>
            <a:off x="9052560" y="1325880"/>
            <a:ext cx="2560320" cy="365760"/>
          </a:xfrm>
          <a:prstGeom prst="rect">
            <a:avLst/>
          </a:prstGeom>
          <a:noFill/>
          <a:ln/>
        </p:spPr>
        <p:txBody>
          <a:bodyPr wrap="square" lIns="0" tIns="0" rIns="0" bIns="0" rtlCol="0" anchor="ctr"/>
          <a:lstStyle/>
          <a:p>
            <a:pPr indent="0" marL="0">
              <a:buNone/>
            </a:pPr>
            <a:r>
              <a:rPr lang="en-US" sz="1800" b="1" dirty="0">
                <a:solidFill>
                  <a:srgbClr val="0F172A"/>
                </a:solidFill>
              </a:rPr>
              <a:t>Stack</a:t>
            </a:r>
            <a:endParaRPr lang="en-US" sz="1800" dirty="0"/>
          </a:p>
        </p:txBody>
      </p:sp>
      <p:sp>
        <p:nvSpPr>
          <p:cNvPr id="21" name="stack list"/>
          <p:cNvSpPr txBox="1"/>
          <p:nvPr/>
        </p:nvSpPr>
        <p:spPr>
          <a:xfrm>
            <a:off x="9052560" y="1783080"/>
            <a:ext cx="2590495" cy="4206240"/>
          </a:xfrm>
          <a:prstGeom prst="rect">
            <a:avLst/>
          </a:prstGeom>
          <a:noFill/>
          <a:ln/>
        </p:spPr>
        <p:txBody>
          <a:bodyPr wrap="square" lIns="0" tIns="0" rIns="0" bIns="0" rtlCol="0" anchor="t"/>
          <a:lstStyle/>
          <a:p>
            <a:pPr marL="228600" indent="-228600">
              <a:spcAft>
                <a:spcPts val="700"/>
              </a:spcAft>
              <a:buSzPct val="100000"/>
              <a:buChar char="•"/>
            </a:pPr>
            <a:r>
              <a:rPr lang="en-US" sz="1400" dirty="0">
                <a:solidFill>
                  <a:srgbClr val="0F172A"/>
                </a:solidFill>
              </a:rPr>
              <a:t>Next.js 16 · React 19 · TypeScript</a:t>
            </a:r>
            <a:endParaRPr lang="en-US" sz="1400" dirty="0"/>
          </a:p>
          <a:p>
            <a:pPr marL="228600" indent="-228600">
              <a:spcAft>
                <a:spcPts val="700"/>
              </a:spcAft>
              <a:buSzPct val="100000"/>
              <a:buChar char="•"/>
            </a:pPr>
            <a:r>
              <a:rPr lang="en-US" sz="1400" dirty="0">
                <a:solidFill>
                  <a:srgbClr val="0F172A"/>
                </a:solidFill>
              </a:rPr>
              <a:t>Tailwind CSS 4</a:t>
            </a:r>
            <a:endParaRPr lang="en-US" sz="1400" dirty="0"/>
          </a:p>
          <a:p>
            <a:pPr marL="228600" indent="-228600">
              <a:spcAft>
                <a:spcPts val="700"/>
              </a:spcAft>
              <a:buSzPct val="100000"/>
              <a:buChar char="•"/>
            </a:pPr>
            <a:r>
              <a:rPr lang="en-US" sz="1400" dirty="0">
                <a:solidFill>
                  <a:srgbClr val="0F172A"/>
                </a:solidFill>
              </a:rPr>
              <a:t>Prisma 6 · PostgreSQL (Aiven)</a:t>
            </a:r>
            <a:endParaRPr lang="en-US" sz="1400" dirty="0"/>
          </a:p>
          <a:p>
            <a:pPr marL="228600" indent="-228600">
              <a:spcAft>
                <a:spcPts val="700"/>
              </a:spcAft>
              <a:buSzPct val="100000"/>
              <a:buChar char="•"/>
            </a:pPr>
            <a:r>
              <a:rPr lang="en-US" sz="1400" dirty="0">
                <a:solidFill>
                  <a:srgbClr val="0F172A"/>
                </a:solidFill>
              </a:rPr>
              <a:t>Groq GPT-OSS 120B / 20B</a:t>
            </a:r>
            <a:endParaRPr lang="en-US" sz="1400" dirty="0"/>
          </a:p>
          <a:p>
            <a:pPr marL="228600" indent="-228600">
              <a:spcAft>
                <a:spcPts val="700"/>
              </a:spcAft>
              <a:buSzPct val="100000"/>
              <a:buChar char="•"/>
            </a:pPr>
            <a:r>
              <a:rPr lang="en-US" sz="1400" dirty="0">
                <a:solidFill>
                  <a:srgbClr val="0F172A"/>
                </a:solidFill>
              </a:rPr>
              <a:t>JWT httpOnly cookie · bcrypt</a:t>
            </a:r>
            <a:endParaRPr lang="en-US" sz="1400" dirty="0"/>
          </a:p>
          <a:p>
            <a:pPr marL="228600" indent="-228600">
              <a:spcAft>
                <a:spcPts val="700"/>
              </a:spcAft>
              <a:buSzPct val="100000"/>
              <a:buChar char="•"/>
            </a:pPr>
            <a:r>
              <a:rPr lang="en-US" sz="1400" dirty="0">
                <a:solidFill>
                  <a:srgbClr val="0F172A"/>
                </a:solidFill>
              </a:rPr>
              <a:t>zod validation</a:t>
            </a:r>
            <a:endParaRPr lang="en-US" sz="1400" dirty="0"/>
          </a:p>
          <a:p>
            <a:pPr marL="228600" indent="-228600">
              <a:spcAft>
                <a:spcPts val="700"/>
              </a:spcAft>
              <a:buSzPct val="100000"/>
              <a:buChar char="•"/>
            </a:pPr>
            <a:r>
              <a:rPr lang="en-US" sz="1400" dirty="0">
                <a:solidFill>
                  <a:srgbClr val="0F172A"/>
                </a:solidFill>
              </a:rPr>
              <a:t>Vercel hosting</a:t>
            </a:r>
            <a:endParaRPr lang="en-US" sz="1400" dirty="0"/>
          </a:p>
          <a:p>
            <a:pPr marL="228600" indent="-228600">
              <a:spcAft>
                <a:spcPts val="700"/>
              </a:spcAft>
              <a:buSzPct val="100000"/>
              <a:buChar char="•"/>
            </a:pPr>
            <a:r>
              <a:rPr lang="en-US" sz="1400" dirty="0">
                <a:solidFill>
                  <a:srgbClr val="0F172A"/>
                </a:solidFill>
              </a:rPr>
              <a:t>OpenAPI · Swagger UI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role pill Admin"/>
          <p:cNvSpPr/>
          <p:nvPr/>
        </p:nvSpPr>
        <p:spPr>
          <a:xfrm>
            <a:off x="640080" y="1600200"/>
            <a:ext cx="1828800" cy="384048"/>
          </a:xfrm>
          <a:prstGeom prst="roundRect">
            <a:avLst>
              <a:gd name="adj" fmla="val 50000"/>
            </a:avLst>
          </a:prstGeom>
          <a:solidFill>
            <a:srgbClr val="4F46E5"/>
          </a:solidFill>
          <a:ln w="12700">
            <a:solidFill>
              <a:srgbClr val="4F46E5"/>
            </a:solidFill>
            <a:prstDash val="solid"/>
          </a:ln>
        </p:spPr>
      </p:sp>
      <p:sp>
        <p:nvSpPr>
          <p:cNvPr id="4" name="role pill Admin text"/>
          <p:cNvSpPr txBox="1"/>
          <p:nvPr/>
        </p:nvSpPr>
        <p:spPr>
          <a:xfrm>
            <a:off x="640080" y="1600200"/>
            <a:ext cx="1828800" cy="384048"/>
          </a:xfrm>
          <a:prstGeom prst="rect">
            <a:avLst/>
          </a:prstGeom>
          <a:noFill/>
          <a:ln/>
        </p:spPr>
        <p:txBody>
          <a:bodyPr wrap="square" lIns="0" tIns="0" rIns="0" bIns="0" rtlCol="0" anchor="ctr"/>
          <a:lstStyle/>
          <a:p>
            <a:pPr algn="ctr" indent="0" marL="0">
              <a:buNone/>
            </a:pPr>
            <a:r>
              <a:rPr lang="en-US" sz="1400" b="1" dirty="0">
                <a:solidFill>
                  <a:srgbClr val="FFFFFF"/>
                </a:solidFill>
              </a:rPr>
              <a:t>Admin</a:t>
            </a:r>
            <a:endParaRPr lang="en-US" sz="1400" dirty="0"/>
          </a:p>
        </p:txBody>
      </p:sp>
      <p:sp>
        <p:nvSpPr>
          <p:cNvPr id="5" name="role pill Manager"/>
          <p:cNvSpPr/>
          <p:nvPr/>
        </p:nvSpPr>
        <p:spPr>
          <a:xfrm>
            <a:off x="640080" y="2103120"/>
            <a:ext cx="1828800" cy="384048"/>
          </a:xfrm>
          <a:prstGeom prst="roundRect">
            <a:avLst>
              <a:gd name="adj" fmla="val 50000"/>
            </a:avLst>
          </a:prstGeom>
          <a:solidFill>
            <a:srgbClr val="0D9488"/>
          </a:solidFill>
          <a:ln w="12700">
            <a:solidFill>
              <a:srgbClr val="0D9488"/>
            </a:solidFill>
            <a:prstDash val="solid"/>
          </a:ln>
        </p:spPr>
      </p:sp>
      <p:sp>
        <p:nvSpPr>
          <p:cNvPr id="6" name="role pill Manager text"/>
          <p:cNvSpPr txBox="1"/>
          <p:nvPr/>
        </p:nvSpPr>
        <p:spPr>
          <a:xfrm>
            <a:off x="640080" y="2103120"/>
            <a:ext cx="1828800" cy="384048"/>
          </a:xfrm>
          <a:prstGeom prst="rect">
            <a:avLst/>
          </a:prstGeom>
          <a:noFill/>
          <a:ln/>
        </p:spPr>
        <p:txBody>
          <a:bodyPr wrap="square" lIns="0" tIns="0" rIns="0" bIns="0" rtlCol="0" anchor="ctr"/>
          <a:lstStyle/>
          <a:p>
            <a:pPr algn="ctr" indent="0" marL="0">
              <a:buNone/>
            </a:pPr>
            <a:r>
              <a:rPr lang="en-US" sz="1400" b="1" dirty="0">
                <a:solidFill>
                  <a:srgbClr val="FFFFFF"/>
                </a:solidFill>
              </a:rPr>
              <a:t>Manager</a:t>
            </a:r>
            <a:endParaRPr lang="en-US" sz="1400" dirty="0"/>
          </a:p>
        </p:txBody>
      </p:sp>
      <p:sp>
        <p:nvSpPr>
          <p:cNvPr id="7" name="role pill Agent"/>
          <p:cNvSpPr/>
          <p:nvPr/>
        </p:nvSpPr>
        <p:spPr>
          <a:xfrm>
            <a:off x="640080" y="2606040"/>
            <a:ext cx="1828800" cy="384048"/>
          </a:xfrm>
          <a:prstGeom prst="roundRect">
            <a:avLst>
              <a:gd name="adj" fmla="val 50000"/>
            </a:avLst>
          </a:prstGeom>
          <a:solidFill>
            <a:srgbClr val="D97706"/>
          </a:solidFill>
          <a:ln w="12700">
            <a:solidFill>
              <a:srgbClr val="D97706"/>
            </a:solidFill>
            <a:prstDash val="solid"/>
          </a:ln>
        </p:spPr>
      </p:sp>
      <p:sp>
        <p:nvSpPr>
          <p:cNvPr id="8" name="role pill Agent text"/>
          <p:cNvSpPr txBox="1"/>
          <p:nvPr/>
        </p:nvSpPr>
        <p:spPr>
          <a:xfrm>
            <a:off x="640080" y="2606040"/>
            <a:ext cx="1828800" cy="384048"/>
          </a:xfrm>
          <a:prstGeom prst="rect">
            <a:avLst/>
          </a:prstGeom>
          <a:noFill/>
          <a:ln/>
        </p:spPr>
        <p:txBody>
          <a:bodyPr wrap="square" lIns="0" tIns="0" rIns="0" bIns="0" rtlCol="0" anchor="ctr"/>
          <a:lstStyle/>
          <a:p>
            <a:pPr algn="ctr" indent="0" marL="0">
              <a:buNone/>
            </a:pPr>
            <a:r>
              <a:rPr lang="en-US" sz="1400" b="1" dirty="0">
                <a:solidFill>
                  <a:srgbClr val="FFFFFF"/>
                </a:solidFill>
              </a:rPr>
              <a:t>Agent</a:t>
            </a:r>
            <a:endParaRPr lang="en-US" sz="1400" dirty="0"/>
          </a:p>
        </p:txBody>
      </p:sp>
      <p:sp>
        <p:nvSpPr>
          <p:cNvPr id="9" name="diagram shape 1"/>
          <p:cNvSpPr/>
          <p:nvPr/>
        </p:nvSpPr>
        <p:spPr>
          <a:xfrm>
            <a:off x="548640" y="3291840"/>
            <a:ext cx="2011680" cy="1188720"/>
          </a:xfrm>
          <a:prstGeom prst="roundRect">
            <a:avLst>
              <a:gd name="adj" fmla="val 7692"/>
            </a:avLst>
          </a:prstGeom>
          <a:solidFill>
            <a:srgbClr val="FFFFFF"/>
          </a:solidFill>
          <a:ln w="19050">
            <a:solidFill>
              <a:srgbClr val="CBD5E1"/>
            </a:solidFill>
            <a:prstDash val="solid"/>
          </a:ln>
        </p:spPr>
      </p:sp>
      <p:sp>
        <p:nvSpPr>
          <p:cNvPr id="10" name="diagram label 1"/>
          <p:cNvSpPr txBox="1"/>
          <p:nvPr/>
        </p:nvSpPr>
        <p:spPr>
          <a:xfrm>
            <a:off x="640080" y="3291840"/>
            <a:ext cx="1828800" cy="1188720"/>
          </a:xfrm>
          <a:prstGeom prst="rect">
            <a:avLst/>
          </a:prstGeom>
          <a:noFill/>
          <a:ln/>
        </p:spPr>
        <p:txBody>
          <a:bodyPr wrap="square" lIns="0" tIns="0" rIns="0" bIns="0" rtlCol="0" anchor="ctr"/>
          <a:lstStyle/>
          <a:p>
            <a:pPr algn="ctr" indent="0" marL="0">
              <a:buNone/>
            </a:pPr>
            <a:r>
              <a:rPr lang="en-US" sz="1400" b="1" dirty="0">
                <a:solidFill>
                  <a:srgbClr val="0F172A"/>
                </a:solidFill>
              </a:rPr>
              <a:t>Browser</a:t>
            </a:r>
            <a:endParaRPr lang="en-US" sz="1400" dirty="0"/>
          </a:p>
          <a:p>
            <a:pPr algn="ctr" indent="0" marL="0">
              <a:buNone/>
            </a:pPr>
            <a:r>
              <a:rPr lang="en-US" sz="1400" b="1" dirty="0">
                <a:solidFill>
                  <a:srgbClr val="0F172A"/>
                </a:solidFill>
              </a:rPr>
              <a:t>React UI</a:t>
            </a:r>
            <a:endParaRPr lang="en-US" sz="1400" dirty="0"/>
          </a:p>
        </p:txBody>
      </p:sp>
      <p:sp>
        <p:nvSpPr>
          <p:cNvPr id="11" name="diagram arrow 2"/>
          <p:cNvSpPr/>
          <p:nvPr/>
        </p:nvSpPr>
        <p:spPr>
          <a:xfrm>
            <a:off x="1554480" y="3090672"/>
            <a:ext cx="914" cy="201168"/>
          </a:xfrm>
          <a:prstGeom prst="line">
            <a:avLst/>
          </a:prstGeom>
          <a:noFill/>
          <a:ln w="22225">
            <a:solidFill>
              <a:srgbClr val="64748B"/>
            </a:solidFill>
            <a:prstDash val="solid"/>
            <a:tailEnd type="triangle"/>
          </a:ln>
        </p:spPr>
      </p:sp>
      <p:sp>
        <p:nvSpPr>
          <p:cNvPr id="12" name="vercel container"/>
          <p:cNvSpPr/>
          <p:nvPr/>
        </p:nvSpPr>
        <p:spPr>
          <a:xfrm>
            <a:off x="3246120" y="1417320"/>
            <a:ext cx="4846320" cy="4572000"/>
          </a:xfrm>
          <a:prstGeom prst="roundRect">
            <a:avLst>
              <a:gd name="adj" fmla="val 2400"/>
            </a:avLst>
          </a:prstGeom>
          <a:solidFill>
            <a:srgbClr val="F8FAFC"/>
          </a:solidFill>
          <a:ln w="15875">
            <a:solidFill>
              <a:srgbClr val="94A3B8"/>
            </a:solidFill>
            <a:prstDash val="dash"/>
          </a:ln>
        </p:spPr>
      </p:sp>
      <p:sp>
        <p:nvSpPr>
          <p:cNvPr id="13" name="diagram note 3"/>
          <p:cNvSpPr txBox="1"/>
          <p:nvPr/>
        </p:nvSpPr>
        <p:spPr>
          <a:xfrm>
            <a:off x="3429000" y="1527048"/>
            <a:ext cx="4480560" cy="292608"/>
          </a:xfrm>
          <a:prstGeom prst="rect">
            <a:avLst/>
          </a:prstGeom>
          <a:noFill/>
          <a:ln/>
        </p:spPr>
        <p:txBody>
          <a:bodyPr wrap="square" lIns="0" tIns="0" rIns="0" bIns="0" rtlCol="0" anchor="ctr"/>
          <a:lstStyle/>
          <a:p>
            <a:pPr algn="ctr" indent="0" marL="0">
              <a:buNone/>
            </a:pPr>
            <a:r>
              <a:rPr lang="en-US" sz="1400" b="1" dirty="0">
                <a:solidFill>
                  <a:srgbClr val="334155"/>
                </a:solidFill>
              </a:rPr>
              <a:t>Vercel · one Next.js 16 app</a:t>
            </a:r>
            <a:endParaRPr lang="en-US" sz="1400" dirty="0"/>
          </a:p>
        </p:txBody>
      </p:sp>
      <p:sp>
        <p:nvSpPr>
          <p:cNvPr id="14" name="diagram shape 4"/>
          <p:cNvSpPr/>
          <p:nvPr/>
        </p:nvSpPr>
        <p:spPr>
          <a:xfrm>
            <a:off x="3611880" y="1965960"/>
            <a:ext cx="4114800" cy="713232"/>
          </a:xfrm>
          <a:prstGeom prst="roundRect">
            <a:avLst>
              <a:gd name="adj" fmla="val 12821"/>
            </a:avLst>
          </a:prstGeom>
          <a:solidFill>
            <a:srgbClr val="FFFFFF"/>
          </a:solidFill>
          <a:ln w="19050">
            <a:solidFill>
              <a:srgbClr val="CBD5E1"/>
            </a:solidFill>
            <a:prstDash val="solid"/>
          </a:ln>
        </p:spPr>
      </p:sp>
      <p:sp>
        <p:nvSpPr>
          <p:cNvPr id="15" name="diagram label 4"/>
          <p:cNvSpPr txBox="1"/>
          <p:nvPr/>
        </p:nvSpPr>
        <p:spPr>
          <a:xfrm>
            <a:off x="3703320" y="1965960"/>
            <a:ext cx="3931920" cy="713232"/>
          </a:xfrm>
          <a:prstGeom prst="rect">
            <a:avLst/>
          </a:prstGeom>
          <a:noFill/>
          <a:ln/>
        </p:spPr>
        <p:txBody>
          <a:bodyPr wrap="square" lIns="0" tIns="0" rIns="0" bIns="0" rtlCol="0" anchor="ctr"/>
          <a:lstStyle/>
          <a:p>
            <a:pPr algn="ctr" indent="0" marL="0">
              <a:buNone/>
            </a:pPr>
            <a:r>
              <a:rPr lang="en-US" sz="1400" b="1" dirty="0">
                <a:solidFill>
                  <a:srgbClr val="0F172A"/>
                </a:solidFill>
              </a:rPr>
              <a:t>Pages (server-checked session)</a:t>
            </a:r>
            <a:endParaRPr lang="en-US" sz="1400" dirty="0"/>
          </a:p>
        </p:txBody>
      </p:sp>
      <p:sp>
        <p:nvSpPr>
          <p:cNvPr id="16" name="diagram arrow 5"/>
          <p:cNvSpPr/>
          <p:nvPr/>
        </p:nvSpPr>
        <p:spPr>
          <a:xfrm>
            <a:off x="5669280" y="2679192"/>
            <a:ext cx="914" cy="274320"/>
          </a:xfrm>
          <a:prstGeom prst="line">
            <a:avLst/>
          </a:prstGeom>
          <a:noFill/>
          <a:ln w="22225">
            <a:solidFill>
              <a:srgbClr val="64748B"/>
            </a:solidFill>
            <a:prstDash val="solid"/>
            <a:tailEnd type="triangle"/>
          </a:ln>
        </p:spPr>
      </p:sp>
      <p:sp>
        <p:nvSpPr>
          <p:cNvPr id="17" name="diagram shape 6"/>
          <p:cNvSpPr/>
          <p:nvPr/>
        </p:nvSpPr>
        <p:spPr>
          <a:xfrm>
            <a:off x="3611880" y="2953512"/>
            <a:ext cx="4114800" cy="713232"/>
          </a:xfrm>
          <a:prstGeom prst="roundRect">
            <a:avLst>
              <a:gd name="adj" fmla="val 12821"/>
            </a:avLst>
          </a:prstGeom>
          <a:solidFill>
            <a:srgbClr val="FFFFFF"/>
          </a:solidFill>
          <a:ln w="19050">
            <a:solidFill>
              <a:srgbClr val="CBD5E1"/>
            </a:solidFill>
            <a:prstDash val="solid"/>
          </a:ln>
        </p:spPr>
      </p:sp>
      <p:sp>
        <p:nvSpPr>
          <p:cNvPr id="18" name="diagram label 6"/>
          <p:cNvSpPr txBox="1"/>
          <p:nvPr/>
        </p:nvSpPr>
        <p:spPr>
          <a:xfrm>
            <a:off x="3703320" y="2953512"/>
            <a:ext cx="3931920" cy="713232"/>
          </a:xfrm>
          <a:prstGeom prst="rect">
            <a:avLst/>
          </a:prstGeom>
          <a:noFill/>
          <a:ln/>
        </p:spPr>
        <p:txBody>
          <a:bodyPr wrap="square" lIns="0" tIns="0" rIns="0" bIns="0" rtlCol="0" anchor="ctr"/>
          <a:lstStyle/>
          <a:p>
            <a:pPr algn="ctr" indent="0" marL="0">
              <a:buNone/>
            </a:pPr>
            <a:r>
              <a:rPr lang="en-US" sz="1400" b="1" dirty="0">
                <a:solidFill>
                  <a:srgbClr val="0F172A"/>
                </a:solidFill>
              </a:rPr>
              <a:t>API routes · withHandler()</a:t>
            </a:r>
            <a:endParaRPr lang="en-US" sz="1400" dirty="0"/>
          </a:p>
        </p:txBody>
      </p:sp>
      <p:sp>
        <p:nvSpPr>
          <p:cNvPr id="19" name="diagram arrow 7"/>
          <p:cNvSpPr/>
          <p:nvPr/>
        </p:nvSpPr>
        <p:spPr>
          <a:xfrm>
            <a:off x="5669280" y="3666744"/>
            <a:ext cx="914" cy="274320"/>
          </a:xfrm>
          <a:prstGeom prst="line">
            <a:avLst/>
          </a:prstGeom>
          <a:noFill/>
          <a:ln w="22225">
            <a:solidFill>
              <a:srgbClr val="64748B"/>
            </a:solidFill>
            <a:prstDash val="solid"/>
            <a:tailEnd type="triangle"/>
          </a:ln>
        </p:spPr>
      </p:sp>
      <p:sp>
        <p:nvSpPr>
          <p:cNvPr id="20" name="diagram shape 8"/>
          <p:cNvSpPr/>
          <p:nvPr/>
        </p:nvSpPr>
        <p:spPr>
          <a:xfrm>
            <a:off x="3611880" y="3941064"/>
            <a:ext cx="4114800" cy="713232"/>
          </a:xfrm>
          <a:prstGeom prst="roundRect">
            <a:avLst>
              <a:gd name="adj" fmla="val 12821"/>
            </a:avLst>
          </a:prstGeom>
          <a:solidFill>
            <a:srgbClr val="EEF2FF"/>
          </a:solidFill>
          <a:ln w="19050">
            <a:solidFill>
              <a:srgbClr val="4F46E5"/>
            </a:solidFill>
            <a:prstDash val="solid"/>
          </a:ln>
        </p:spPr>
      </p:sp>
      <p:sp>
        <p:nvSpPr>
          <p:cNvPr id="21" name="diagram label 8"/>
          <p:cNvSpPr txBox="1"/>
          <p:nvPr/>
        </p:nvSpPr>
        <p:spPr>
          <a:xfrm>
            <a:off x="3703320" y="3941064"/>
            <a:ext cx="3931920" cy="713232"/>
          </a:xfrm>
          <a:prstGeom prst="rect">
            <a:avLst/>
          </a:prstGeom>
          <a:noFill/>
          <a:ln/>
        </p:spPr>
        <p:txBody>
          <a:bodyPr wrap="square" lIns="0" tIns="0" rIns="0" bIns="0" rtlCol="0" anchor="ctr"/>
          <a:lstStyle/>
          <a:p>
            <a:pPr algn="ctr" indent="0" marL="0">
              <a:buNone/>
            </a:pPr>
            <a:r>
              <a:rPr lang="en-US" sz="1400" b="1" dirty="0">
                <a:solidFill>
                  <a:srgbClr val="1E1B4B"/>
                </a:solidFill>
              </a:rPr>
              <a:t>Services + access policies</a:t>
            </a:r>
            <a:endParaRPr lang="en-US" sz="1400" dirty="0"/>
          </a:p>
        </p:txBody>
      </p:sp>
      <p:sp>
        <p:nvSpPr>
          <p:cNvPr id="22" name="diagram arrow 9"/>
          <p:cNvSpPr/>
          <p:nvPr/>
        </p:nvSpPr>
        <p:spPr>
          <a:xfrm>
            <a:off x="5669280" y="4654296"/>
            <a:ext cx="914" cy="274320"/>
          </a:xfrm>
          <a:prstGeom prst="line">
            <a:avLst/>
          </a:prstGeom>
          <a:noFill/>
          <a:ln w="22225">
            <a:solidFill>
              <a:srgbClr val="64748B"/>
            </a:solidFill>
            <a:prstDash val="solid"/>
            <a:tailEnd type="triangle"/>
          </a:ln>
        </p:spPr>
      </p:sp>
      <p:sp>
        <p:nvSpPr>
          <p:cNvPr id="23" name="diagram shape 10"/>
          <p:cNvSpPr/>
          <p:nvPr/>
        </p:nvSpPr>
        <p:spPr>
          <a:xfrm>
            <a:off x="3611880" y="4928616"/>
            <a:ext cx="4114800" cy="713232"/>
          </a:xfrm>
          <a:prstGeom prst="roundRect">
            <a:avLst>
              <a:gd name="adj" fmla="val 12821"/>
            </a:avLst>
          </a:prstGeom>
          <a:solidFill>
            <a:srgbClr val="FFFFFF"/>
          </a:solidFill>
          <a:ln w="19050">
            <a:solidFill>
              <a:srgbClr val="CBD5E1"/>
            </a:solidFill>
            <a:prstDash val="solid"/>
          </a:ln>
        </p:spPr>
      </p:sp>
      <p:sp>
        <p:nvSpPr>
          <p:cNvPr id="24" name="diagram label 10"/>
          <p:cNvSpPr txBox="1"/>
          <p:nvPr/>
        </p:nvSpPr>
        <p:spPr>
          <a:xfrm>
            <a:off x="3703320" y="4928616"/>
            <a:ext cx="3931920" cy="713232"/>
          </a:xfrm>
          <a:prstGeom prst="rect">
            <a:avLst/>
          </a:prstGeom>
          <a:noFill/>
          <a:ln/>
        </p:spPr>
        <p:txBody>
          <a:bodyPr wrap="square" lIns="0" tIns="0" rIns="0" bIns="0" rtlCol="0" anchor="ctr"/>
          <a:lstStyle/>
          <a:p>
            <a:pPr algn="ctr" indent="0" marL="0">
              <a:buNone/>
            </a:pPr>
            <a:r>
              <a:rPr lang="en-US" sz="1400" b="1" dirty="0">
                <a:solidFill>
                  <a:srgbClr val="0F172A"/>
                </a:solidFill>
              </a:rPr>
              <a:t>Repositories (Prisma)</a:t>
            </a:r>
            <a:endParaRPr lang="en-US" sz="1400" dirty="0"/>
          </a:p>
        </p:txBody>
      </p:sp>
      <p:sp>
        <p:nvSpPr>
          <p:cNvPr id="25" name="diagram arrow 11"/>
          <p:cNvSpPr/>
          <p:nvPr/>
        </p:nvSpPr>
        <p:spPr>
          <a:xfrm>
            <a:off x="2560320" y="3886200"/>
            <a:ext cx="1051560" cy="914"/>
          </a:xfrm>
          <a:prstGeom prst="line">
            <a:avLst/>
          </a:prstGeom>
          <a:noFill/>
          <a:ln w="22225">
            <a:solidFill>
              <a:srgbClr val="64748B"/>
            </a:solidFill>
            <a:prstDash val="solid"/>
            <a:tailEnd type="triangle"/>
          </a:ln>
        </p:spPr>
      </p:sp>
      <p:sp>
        <p:nvSpPr>
          <p:cNvPr id="26" name="diagram note 12"/>
          <p:cNvSpPr txBox="1"/>
          <p:nvPr/>
        </p:nvSpPr>
        <p:spPr>
          <a:xfrm>
            <a:off x="2578608" y="3950208"/>
            <a:ext cx="658368" cy="292608"/>
          </a:xfrm>
          <a:prstGeom prst="rect">
            <a:avLst/>
          </a:prstGeom>
          <a:noFill/>
          <a:ln/>
        </p:spPr>
        <p:txBody>
          <a:bodyPr wrap="square" lIns="0" tIns="0" rIns="0" bIns="0" rtlCol="0" anchor="ctr"/>
          <a:lstStyle/>
          <a:p>
            <a:pPr algn="ctr" indent="0" marL="0">
              <a:buNone/>
            </a:pPr>
            <a:r>
              <a:rPr lang="en-US" sz="1100" dirty="0">
                <a:solidFill>
                  <a:srgbClr val="475569"/>
                </a:solidFill>
              </a:rPr>
              <a:t>HTTPS</a:t>
            </a:r>
            <a:endParaRPr lang="en-US" sz="1100" dirty="0"/>
          </a:p>
        </p:txBody>
      </p:sp>
      <p:sp>
        <p:nvSpPr>
          <p:cNvPr id="27" name="diagram note 13"/>
          <p:cNvSpPr txBox="1"/>
          <p:nvPr/>
        </p:nvSpPr>
        <p:spPr>
          <a:xfrm>
            <a:off x="2578608" y="4187952"/>
            <a:ext cx="658368" cy="292608"/>
          </a:xfrm>
          <a:prstGeom prst="rect">
            <a:avLst/>
          </a:prstGeom>
          <a:noFill/>
          <a:ln/>
        </p:spPr>
        <p:txBody>
          <a:bodyPr wrap="square" lIns="0" tIns="0" rIns="0" bIns="0" rtlCol="0" anchor="ctr"/>
          <a:lstStyle/>
          <a:p>
            <a:pPr algn="ctr" indent="0" marL="0">
              <a:buNone/>
            </a:pPr>
            <a:r>
              <a:rPr lang="en-US" sz="1100" dirty="0">
                <a:solidFill>
                  <a:srgbClr val="475569"/>
                </a:solidFill>
              </a:rPr>
              <a:t>+ cookie</a:t>
            </a:r>
            <a:endParaRPr lang="en-US" sz="1100" dirty="0"/>
          </a:p>
        </p:txBody>
      </p:sp>
      <p:sp>
        <p:nvSpPr>
          <p:cNvPr id="28" name="diagram shape 14"/>
          <p:cNvSpPr/>
          <p:nvPr/>
        </p:nvSpPr>
        <p:spPr>
          <a:xfrm>
            <a:off x="8732520" y="1417320"/>
            <a:ext cx="2926080" cy="1737360"/>
          </a:xfrm>
          <a:prstGeom prst="cloud">
            <a:avLst/>
          </a:prstGeom>
          <a:solidFill>
            <a:srgbClr val="E0F2F1"/>
          </a:solidFill>
          <a:ln w="19050">
            <a:solidFill>
              <a:srgbClr val="0D9488"/>
            </a:solidFill>
            <a:prstDash val="solid"/>
          </a:ln>
        </p:spPr>
      </p:sp>
      <p:sp>
        <p:nvSpPr>
          <p:cNvPr id="29" name="diagram label 14"/>
          <p:cNvSpPr txBox="1"/>
          <p:nvPr/>
        </p:nvSpPr>
        <p:spPr>
          <a:xfrm>
            <a:off x="8823960" y="1417320"/>
            <a:ext cx="2743200" cy="1737360"/>
          </a:xfrm>
          <a:prstGeom prst="rect">
            <a:avLst/>
          </a:prstGeom>
          <a:noFill/>
          <a:ln/>
        </p:spPr>
        <p:txBody>
          <a:bodyPr wrap="square" lIns="0" tIns="0" rIns="0" bIns="0" rtlCol="0" anchor="ctr"/>
          <a:lstStyle/>
          <a:p>
            <a:pPr algn="ctr" indent="0" marL="0">
              <a:buNone/>
            </a:pPr>
            <a:r>
              <a:rPr lang="en-US" sz="1400" b="1" dirty="0">
                <a:solidFill>
                  <a:srgbClr val="134E4A"/>
                </a:solidFill>
              </a:rPr>
              <a:t>Groq AI</a:t>
            </a:r>
            <a:endParaRPr lang="en-US" sz="1400" dirty="0"/>
          </a:p>
          <a:p>
            <a:pPr algn="ctr" indent="0" marL="0">
              <a:buNone/>
            </a:pPr>
            <a:r>
              <a:rPr lang="en-US" sz="1400" b="1" dirty="0">
                <a:solidFill>
                  <a:srgbClr val="134E4A"/>
                </a:solidFill>
              </a:rPr>
              <a:t>GPT-OSS 120B / 20B</a:t>
            </a:r>
            <a:endParaRPr lang="en-US" sz="1400" dirty="0"/>
          </a:p>
        </p:txBody>
      </p:sp>
      <p:sp>
        <p:nvSpPr>
          <p:cNvPr id="30" name="diagram shape 15"/>
          <p:cNvSpPr/>
          <p:nvPr/>
        </p:nvSpPr>
        <p:spPr>
          <a:xfrm>
            <a:off x="9006840" y="4114800"/>
            <a:ext cx="2377440" cy="1828800"/>
          </a:xfrm>
          <a:prstGeom prst="can">
            <a:avLst/>
          </a:prstGeom>
          <a:solidFill>
            <a:srgbClr val="E0F2F1"/>
          </a:solidFill>
          <a:ln w="19050">
            <a:solidFill>
              <a:srgbClr val="0D9488"/>
            </a:solidFill>
            <a:prstDash val="solid"/>
          </a:ln>
        </p:spPr>
      </p:sp>
      <p:sp>
        <p:nvSpPr>
          <p:cNvPr id="31" name="diagram label 15"/>
          <p:cNvSpPr txBox="1"/>
          <p:nvPr/>
        </p:nvSpPr>
        <p:spPr>
          <a:xfrm>
            <a:off x="9098280" y="4434840"/>
            <a:ext cx="2194560" cy="1508760"/>
          </a:xfrm>
          <a:prstGeom prst="rect">
            <a:avLst/>
          </a:prstGeom>
          <a:noFill/>
          <a:ln/>
        </p:spPr>
        <p:txBody>
          <a:bodyPr wrap="square" lIns="0" tIns="0" rIns="0" bIns="0" rtlCol="0" anchor="ctr"/>
          <a:lstStyle/>
          <a:p>
            <a:pPr algn="ctr" indent="0" marL="0">
              <a:buNone/>
            </a:pPr>
            <a:r>
              <a:rPr lang="en-US" sz="1500" b="1" dirty="0">
                <a:solidFill>
                  <a:srgbClr val="134E4A"/>
                </a:solidFill>
              </a:rPr>
              <a:t>PostgreSQL</a:t>
            </a:r>
            <a:endParaRPr lang="en-US" sz="1500" dirty="0"/>
          </a:p>
          <a:p>
            <a:pPr algn="ctr" indent="0" marL="0">
              <a:buNone/>
            </a:pPr>
            <a:r>
              <a:rPr lang="en-US" sz="1500" b="1" dirty="0">
                <a:solidFill>
                  <a:srgbClr val="134E4A"/>
                </a:solidFill>
              </a:rPr>
              <a:t>Aiven</a:t>
            </a:r>
            <a:endParaRPr lang="en-US" sz="1500" dirty="0"/>
          </a:p>
        </p:txBody>
      </p:sp>
      <p:sp>
        <p:nvSpPr>
          <p:cNvPr id="32" name="diagram arrow 16"/>
          <p:cNvSpPr/>
          <p:nvPr/>
        </p:nvSpPr>
        <p:spPr>
          <a:xfrm>
            <a:off x="7726680" y="4297680"/>
            <a:ext cx="685800" cy="914"/>
          </a:xfrm>
          <a:prstGeom prst="line">
            <a:avLst/>
          </a:prstGeom>
          <a:noFill/>
          <a:ln w="22225">
            <a:solidFill>
              <a:srgbClr val="64748B"/>
            </a:solidFill>
            <a:prstDash val="solid"/>
          </a:ln>
        </p:spPr>
      </p:sp>
      <p:sp>
        <p:nvSpPr>
          <p:cNvPr id="33" name="diagram arrow 17"/>
          <p:cNvSpPr/>
          <p:nvPr/>
        </p:nvSpPr>
        <p:spPr>
          <a:xfrm flipV="1">
            <a:off x="8412480" y="2286000"/>
            <a:ext cx="914" cy="2011680"/>
          </a:xfrm>
          <a:prstGeom prst="line">
            <a:avLst/>
          </a:prstGeom>
          <a:noFill/>
          <a:ln w="22225">
            <a:solidFill>
              <a:srgbClr val="64748B"/>
            </a:solidFill>
            <a:prstDash val="solid"/>
          </a:ln>
        </p:spPr>
      </p:sp>
      <p:sp>
        <p:nvSpPr>
          <p:cNvPr id="34" name="diagram arrow 18"/>
          <p:cNvSpPr/>
          <p:nvPr/>
        </p:nvSpPr>
        <p:spPr>
          <a:xfrm>
            <a:off x="8412480" y="2286000"/>
            <a:ext cx="365760" cy="914"/>
          </a:xfrm>
          <a:prstGeom prst="line">
            <a:avLst/>
          </a:prstGeom>
          <a:noFill/>
          <a:ln w="22225">
            <a:solidFill>
              <a:srgbClr val="64748B"/>
            </a:solidFill>
            <a:prstDash val="solid"/>
            <a:tailEnd type="triangle"/>
          </a:ln>
        </p:spPr>
      </p:sp>
      <p:sp>
        <p:nvSpPr>
          <p:cNvPr id="35" name="diagram note 19"/>
          <p:cNvSpPr txBox="1"/>
          <p:nvPr/>
        </p:nvSpPr>
        <p:spPr>
          <a:xfrm>
            <a:off x="8485632" y="3246120"/>
            <a:ext cx="1188720" cy="292608"/>
          </a:xfrm>
          <a:prstGeom prst="rect">
            <a:avLst/>
          </a:prstGeom>
          <a:noFill/>
          <a:ln/>
        </p:spPr>
        <p:txBody>
          <a:bodyPr wrap="square" lIns="0" tIns="0" rIns="0" bIns="0" rtlCol="0" anchor="ctr"/>
          <a:lstStyle/>
          <a:p>
            <a:pPr algn="l" indent="0" marL="0">
              <a:buNone/>
            </a:pPr>
            <a:r>
              <a:rPr lang="en-US" sz="1100" dirty="0">
                <a:solidFill>
                  <a:srgbClr val="475569"/>
                </a:solidFill>
              </a:rPr>
              <a:t>JSON mode</a:t>
            </a:r>
            <a:endParaRPr lang="en-US" sz="1100" dirty="0"/>
          </a:p>
        </p:txBody>
      </p:sp>
      <p:sp>
        <p:nvSpPr>
          <p:cNvPr id="36" name="diagram arrow 20"/>
          <p:cNvSpPr/>
          <p:nvPr/>
        </p:nvSpPr>
        <p:spPr>
          <a:xfrm>
            <a:off x="7726680" y="5285232"/>
            <a:ext cx="1280160" cy="914"/>
          </a:xfrm>
          <a:prstGeom prst="line">
            <a:avLst/>
          </a:prstGeom>
          <a:noFill/>
          <a:ln w="22225">
            <a:solidFill>
              <a:srgbClr val="64748B"/>
            </a:solidFill>
            <a:prstDash val="solid"/>
            <a:tailEnd type="triangle"/>
          </a:ln>
        </p:spPr>
      </p:sp>
      <p:sp>
        <p:nvSpPr>
          <p:cNvPr id="37" name="diagram note 21"/>
          <p:cNvSpPr txBox="1"/>
          <p:nvPr/>
        </p:nvSpPr>
        <p:spPr>
          <a:xfrm>
            <a:off x="8156448" y="5330952"/>
            <a:ext cx="822960" cy="292608"/>
          </a:xfrm>
          <a:prstGeom prst="rect">
            <a:avLst/>
          </a:prstGeom>
          <a:noFill/>
          <a:ln/>
        </p:spPr>
        <p:txBody>
          <a:bodyPr wrap="square" lIns="0" tIns="0" rIns="0" bIns="0" rtlCol="0" anchor="ctr"/>
          <a:lstStyle/>
          <a:p>
            <a:pPr algn="ctr" indent="0" marL="0">
              <a:buNone/>
            </a:pPr>
            <a:r>
              <a:rPr lang="en-US" sz="1100" dirty="0">
                <a:solidFill>
                  <a:srgbClr val="475569"/>
                </a:solidFill>
              </a:rPr>
              <a:t>SQL · SSL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Flowchart: transcript to tasks</a:t>
            </a:r>
            <a:endParaRPr lang="en-US" sz="3400" dirty="0"/>
          </a:p>
        </p:txBody>
      </p:sp>
      <p:sp>
        <p:nvSpPr>
          <p:cNvPr id="3" name="diagram shape 22"/>
          <p:cNvSpPr/>
          <p:nvPr/>
        </p:nvSpPr>
        <p:spPr>
          <a:xfrm>
            <a:off x="548640" y="1874520"/>
            <a:ext cx="2240280" cy="914400"/>
          </a:xfrm>
          <a:prstGeom prst="roundRect">
            <a:avLst>
              <a:gd name="adj" fmla="val 10000"/>
            </a:avLst>
          </a:prstGeom>
          <a:solidFill>
            <a:srgbClr val="FFFFFF"/>
          </a:solidFill>
          <a:ln w="19050">
            <a:solidFill>
              <a:srgbClr val="CBD5E1"/>
            </a:solidFill>
            <a:prstDash val="solid"/>
          </a:ln>
        </p:spPr>
      </p:sp>
      <p:sp>
        <p:nvSpPr>
          <p:cNvPr id="4" name="diagram label 22"/>
          <p:cNvSpPr txBox="1"/>
          <p:nvPr/>
        </p:nvSpPr>
        <p:spPr>
          <a:xfrm>
            <a:off x="640080" y="1874520"/>
            <a:ext cx="2057400" cy="914400"/>
          </a:xfrm>
          <a:prstGeom prst="rect">
            <a:avLst/>
          </a:prstGeom>
          <a:noFill/>
          <a:ln/>
        </p:spPr>
        <p:txBody>
          <a:bodyPr wrap="square" lIns="0" tIns="0" rIns="0" bIns="0" rtlCol="0" anchor="ctr"/>
          <a:lstStyle/>
          <a:p>
            <a:pPr algn="ctr" indent="0" marL="0">
              <a:buNone/>
            </a:pPr>
            <a:r>
              <a:rPr lang="en-US" sz="1400" b="1" dirty="0">
                <a:solidFill>
                  <a:srgbClr val="0F172A"/>
                </a:solidFill>
              </a:rPr>
              <a:t>Admin submits</a:t>
            </a:r>
            <a:endParaRPr lang="en-US" sz="1400" dirty="0"/>
          </a:p>
          <a:p>
            <a:pPr algn="ctr" indent="0" marL="0">
              <a:buNone/>
            </a:pPr>
            <a:r>
              <a:rPr lang="en-US" sz="1400" b="1" dirty="0">
                <a:solidFill>
                  <a:srgbClr val="0F172A"/>
                </a:solidFill>
              </a:rPr>
              <a:t>transcript</a:t>
            </a:r>
            <a:endParaRPr lang="en-US" sz="1400" dirty="0"/>
          </a:p>
        </p:txBody>
      </p:sp>
      <p:sp>
        <p:nvSpPr>
          <p:cNvPr id="5" name="diagram shape 23"/>
          <p:cNvSpPr/>
          <p:nvPr/>
        </p:nvSpPr>
        <p:spPr>
          <a:xfrm>
            <a:off x="3500018" y="1874520"/>
            <a:ext cx="2240280" cy="914400"/>
          </a:xfrm>
          <a:prstGeom prst="roundRect">
            <a:avLst>
              <a:gd name="adj" fmla="val 10000"/>
            </a:avLst>
          </a:prstGeom>
          <a:solidFill>
            <a:srgbClr val="FFFFFF"/>
          </a:solidFill>
          <a:ln w="19050">
            <a:solidFill>
              <a:srgbClr val="CBD5E1"/>
            </a:solidFill>
            <a:prstDash val="solid"/>
          </a:ln>
        </p:spPr>
      </p:sp>
      <p:sp>
        <p:nvSpPr>
          <p:cNvPr id="6" name="diagram label 23"/>
          <p:cNvSpPr txBox="1"/>
          <p:nvPr/>
        </p:nvSpPr>
        <p:spPr>
          <a:xfrm>
            <a:off x="3591458" y="1874520"/>
            <a:ext cx="2057400" cy="914400"/>
          </a:xfrm>
          <a:prstGeom prst="rect">
            <a:avLst/>
          </a:prstGeom>
          <a:noFill/>
          <a:ln/>
        </p:spPr>
        <p:txBody>
          <a:bodyPr wrap="square" lIns="0" tIns="0" rIns="0" bIns="0" rtlCol="0" anchor="ctr"/>
          <a:lstStyle/>
          <a:p>
            <a:pPr algn="ctr" indent="0" marL="0">
              <a:buNone/>
            </a:pPr>
            <a:r>
              <a:rPr lang="en-US" sz="1400" b="1" dirty="0">
                <a:solidFill>
                  <a:srgbClr val="0F172A"/>
                </a:solidFill>
              </a:rPr>
              <a:t>Load team directory</a:t>
            </a:r>
            <a:endParaRPr lang="en-US" sz="1400" dirty="0"/>
          </a:p>
          <a:p>
            <a:pPr algn="ctr" indent="0" marL="0">
              <a:buNone/>
            </a:pPr>
            <a:r>
              <a:rPr lang="en-US" sz="1400" b="1" dirty="0">
                <a:solidFill>
                  <a:srgbClr val="0F172A"/>
                </a:solidFill>
              </a:rPr>
              <a:t>(no passwords)</a:t>
            </a:r>
            <a:endParaRPr lang="en-US" sz="1400" dirty="0"/>
          </a:p>
        </p:txBody>
      </p:sp>
      <p:sp>
        <p:nvSpPr>
          <p:cNvPr id="7" name="diagram shape 24"/>
          <p:cNvSpPr/>
          <p:nvPr/>
        </p:nvSpPr>
        <p:spPr>
          <a:xfrm>
            <a:off x="6451397" y="1874520"/>
            <a:ext cx="2240280" cy="914400"/>
          </a:xfrm>
          <a:prstGeom prst="roundRect">
            <a:avLst>
              <a:gd name="adj" fmla="val 10000"/>
            </a:avLst>
          </a:prstGeom>
          <a:solidFill>
            <a:srgbClr val="EEF2FF"/>
          </a:solidFill>
          <a:ln w="19050">
            <a:solidFill>
              <a:srgbClr val="4F46E5"/>
            </a:solidFill>
            <a:prstDash val="solid"/>
          </a:ln>
        </p:spPr>
      </p:sp>
      <p:sp>
        <p:nvSpPr>
          <p:cNvPr id="8" name="diagram label 24"/>
          <p:cNvSpPr txBox="1"/>
          <p:nvPr/>
        </p:nvSpPr>
        <p:spPr>
          <a:xfrm>
            <a:off x="6542837" y="1874520"/>
            <a:ext cx="2057400" cy="914400"/>
          </a:xfrm>
          <a:prstGeom prst="rect">
            <a:avLst/>
          </a:prstGeom>
          <a:noFill/>
          <a:ln/>
        </p:spPr>
        <p:txBody>
          <a:bodyPr wrap="square" lIns="0" tIns="0" rIns="0" bIns="0" rtlCol="0" anchor="ctr"/>
          <a:lstStyle/>
          <a:p>
            <a:pPr algn="ctr" indent="0" marL="0">
              <a:buNone/>
            </a:pPr>
            <a:r>
              <a:rPr lang="en-US" sz="1400" b="1" dirty="0">
                <a:solidFill>
                  <a:srgbClr val="1E1B4B"/>
                </a:solidFill>
              </a:rPr>
              <a:t>Groq · GPT-OSS 120B</a:t>
            </a:r>
            <a:endParaRPr lang="en-US" sz="1400" dirty="0"/>
          </a:p>
          <a:p>
            <a:pPr algn="ctr" indent="0" marL="0">
              <a:buNone/>
            </a:pPr>
            <a:r>
              <a:rPr lang="en-US" sz="1400" b="1" dirty="0">
                <a:solidFill>
                  <a:srgbClr val="1E1B4B"/>
                </a:solidFill>
              </a:rPr>
              <a:t>JSON output</a:t>
            </a:r>
            <a:endParaRPr lang="en-US" sz="1400" dirty="0"/>
          </a:p>
        </p:txBody>
      </p:sp>
      <p:sp>
        <p:nvSpPr>
          <p:cNvPr id="9" name="diagram shape 25"/>
          <p:cNvSpPr/>
          <p:nvPr/>
        </p:nvSpPr>
        <p:spPr>
          <a:xfrm>
            <a:off x="9402775" y="1737360"/>
            <a:ext cx="2240280" cy="1188720"/>
          </a:xfrm>
          <a:prstGeom prst="diamond">
            <a:avLst/>
          </a:prstGeom>
          <a:solidFill>
            <a:srgbClr val="EEF2FF"/>
          </a:solidFill>
          <a:ln w="19050">
            <a:solidFill>
              <a:srgbClr val="4F46E5"/>
            </a:solidFill>
            <a:prstDash val="solid"/>
          </a:ln>
        </p:spPr>
      </p:sp>
      <p:sp>
        <p:nvSpPr>
          <p:cNvPr id="10" name="diagram label 25"/>
          <p:cNvSpPr txBox="1"/>
          <p:nvPr/>
        </p:nvSpPr>
        <p:spPr>
          <a:xfrm>
            <a:off x="9850831" y="1737360"/>
            <a:ext cx="1344168" cy="1188720"/>
          </a:xfrm>
          <a:prstGeom prst="rect">
            <a:avLst/>
          </a:prstGeom>
          <a:noFill/>
          <a:ln/>
        </p:spPr>
        <p:txBody>
          <a:bodyPr wrap="square" lIns="0" tIns="0" rIns="0" bIns="0" rtlCol="0" anchor="ctr"/>
          <a:lstStyle/>
          <a:p>
            <a:pPr algn="ctr" indent="0" marL="0">
              <a:buNone/>
            </a:pPr>
            <a:r>
              <a:rPr lang="en-US" sz="1400" b="1" dirty="0">
                <a:solidFill>
                  <a:srgbClr val="1E1B4B"/>
                </a:solidFill>
              </a:rPr>
              <a:t>Valid JSON?</a:t>
            </a:r>
            <a:endParaRPr lang="en-US" sz="1400" dirty="0"/>
          </a:p>
        </p:txBody>
      </p:sp>
      <p:sp>
        <p:nvSpPr>
          <p:cNvPr id="11" name="diagram arrow 26"/>
          <p:cNvSpPr/>
          <p:nvPr/>
        </p:nvSpPr>
        <p:spPr>
          <a:xfrm>
            <a:off x="2788920" y="2331720"/>
            <a:ext cx="711098" cy="914"/>
          </a:xfrm>
          <a:prstGeom prst="line">
            <a:avLst/>
          </a:prstGeom>
          <a:noFill/>
          <a:ln w="22225">
            <a:solidFill>
              <a:srgbClr val="64748B"/>
            </a:solidFill>
            <a:prstDash val="solid"/>
            <a:tailEnd type="triangle"/>
          </a:ln>
        </p:spPr>
      </p:sp>
      <p:sp>
        <p:nvSpPr>
          <p:cNvPr id="12" name="diagram arrow 27"/>
          <p:cNvSpPr/>
          <p:nvPr/>
        </p:nvSpPr>
        <p:spPr>
          <a:xfrm>
            <a:off x="5740298" y="2331720"/>
            <a:ext cx="711098" cy="914"/>
          </a:xfrm>
          <a:prstGeom prst="line">
            <a:avLst/>
          </a:prstGeom>
          <a:noFill/>
          <a:ln w="22225">
            <a:solidFill>
              <a:srgbClr val="64748B"/>
            </a:solidFill>
            <a:prstDash val="solid"/>
            <a:tailEnd type="triangle"/>
          </a:ln>
        </p:spPr>
      </p:sp>
      <p:sp>
        <p:nvSpPr>
          <p:cNvPr id="13" name="diagram arrow 28"/>
          <p:cNvSpPr/>
          <p:nvPr/>
        </p:nvSpPr>
        <p:spPr>
          <a:xfrm>
            <a:off x="8691677" y="2331720"/>
            <a:ext cx="711098" cy="914"/>
          </a:xfrm>
          <a:prstGeom prst="line">
            <a:avLst/>
          </a:prstGeom>
          <a:noFill/>
          <a:ln w="22225">
            <a:solidFill>
              <a:srgbClr val="64748B"/>
            </a:solidFill>
            <a:prstDash val="solid"/>
            <a:tailEnd type="triangle"/>
          </a:ln>
        </p:spPr>
      </p:sp>
      <p:sp>
        <p:nvSpPr>
          <p:cNvPr id="14" name="diagram arrow 29"/>
          <p:cNvSpPr/>
          <p:nvPr/>
        </p:nvSpPr>
        <p:spPr>
          <a:xfrm flipV="1">
            <a:off x="10522915" y="1417320"/>
            <a:ext cx="914" cy="320040"/>
          </a:xfrm>
          <a:prstGeom prst="line">
            <a:avLst/>
          </a:prstGeom>
          <a:noFill/>
          <a:ln w="22225">
            <a:solidFill>
              <a:srgbClr val="64748B"/>
            </a:solidFill>
            <a:prstDash val="dash"/>
          </a:ln>
        </p:spPr>
      </p:sp>
      <p:sp>
        <p:nvSpPr>
          <p:cNvPr id="15" name="diagram arrow 30"/>
          <p:cNvSpPr/>
          <p:nvPr/>
        </p:nvSpPr>
        <p:spPr>
          <a:xfrm flipH="1">
            <a:off x="7571537" y="1417320"/>
            <a:ext cx="2951378" cy="914"/>
          </a:xfrm>
          <a:prstGeom prst="line">
            <a:avLst/>
          </a:prstGeom>
          <a:noFill/>
          <a:ln w="22225">
            <a:solidFill>
              <a:srgbClr val="64748B"/>
            </a:solidFill>
            <a:prstDash val="dash"/>
          </a:ln>
        </p:spPr>
      </p:sp>
      <p:sp>
        <p:nvSpPr>
          <p:cNvPr id="16" name="diagram arrow 31"/>
          <p:cNvSpPr/>
          <p:nvPr/>
        </p:nvSpPr>
        <p:spPr>
          <a:xfrm>
            <a:off x="7571537" y="1417320"/>
            <a:ext cx="914" cy="457200"/>
          </a:xfrm>
          <a:prstGeom prst="line">
            <a:avLst/>
          </a:prstGeom>
          <a:noFill/>
          <a:ln w="22225">
            <a:solidFill>
              <a:srgbClr val="64748B"/>
            </a:solidFill>
            <a:prstDash val="dash"/>
            <a:tailEnd type="triangle"/>
          </a:ln>
        </p:spPr>
      </p:sp>
      <p:sp>
        <p:nvSpPr>
          <p:cNvPr id="17" name="diagram note 32"/>
          <p:cNvSpPr txBox="1"/>
          <p:nvPr/>
        </p:nvSpPr>
        <p:spPr>
          <a:xfrm>
            <a:off x="7662977" y="1133856"/>
            <a:ext cx="2951378" cy="292608"/>
          </a:xfrm>
          <a:prstGeom prst="rect">
            <a:avLst/>
          </a:prstGeom>
          <a:noFill/>
          <a:ln/>
        </p:spPr>
        <p:txBody>
          <a:bodyPr wrap="square" lIns="0" tIns="0" rIns="0" bIns="0" rtlCol="0" anchor="ctr"/>
          <a:lstStyle/>
          <a:p>
            <a:pPr algn="ctr" indent="0" marL="0">
              <a:buNone/>
            </a:pPr>
            <a:r>
              <a:rPr lang="en-US" sz="1200" dirty="0">
                <a:solidFill>
                  <a:srgbClr val="B45309"/>
                </a:solidFill>
              </a:rPr>
              <a:t>No: wait, retry, fallback 20B</a:t>
            </a:r>
            <a:endParaRPr lang="en-US" sz="1200" dirty="0"/>
          </a:p>
        </p:txBody>
      </p:sp>
      <p:sp>
        <p:nvSpPr>
          <p:cNvPr id="18" name="diagram shape 33"/>
          <p:cNvSpPr/>
          <p:nvPr/>
        </p:nvSpPr>
        <p:spPr>
          <a:xfrm>
            <a:off x="9402775" y="3611880"/>
            <a:ext cx="2240280" cy="1188720"/>
          </a:xfrm>
          <a:prstGeom prst="diamond">
            <a:avLst/>
          </a:prstGeom>
          <a:solidFill>
            <a:srgbClr val="EEF2FF"/>
          </a:solidFill>
          <a:ln w="19050">
            <a:solidFill>
              <a:srgbClr val="4F46E5"/>
            </a:solidFill>
            <a:prstDash val="solid"/>
          </a:ln>
        </p:spPr>
      </p:sp>
      <p:sp>
        <p:nvSpPr>
          <p:cNvPr id="19" name="diagram label 33"/>
          <p:cNvSpPr txBox="1"/>
          <p:nvPr/>
        </p:nvSpPr>
        <p:spPr>
          <a:xfrm>
            <a:off x="9850831" y="3611880"/>
            <a:ext cx="1344168" cy="1188720"/>
          </a:xfrm>
          <a:prstGeom prst="rect">
            <a:avLst/>
          </a:prstGeom>
          <a:noFill/>
          <a:ln/>
        </p:spPr>
        <p:txBody>
          <a:bodyPr wrap="square" lIns="0" tIns="0" rIns="0" bIns="0" rtlCol="0" anchor="ctr"/>
          <a:lstStyle/>
          <a:p>
            <a:pPr algn="ctr" indent="0" marL="0">
              <a:buNone/>
            </a:pPr>
            <a:r>
              <a:rPr lang="en-US" sz="1400" b="1" dirty="0">
                <a:solidFill>
                  <a:srgbClr val="1E1B4B"/>
                </a:solidFill>
              </a:rPr>
              <a:t>Rules OK?</a:t>
            </a:r>
            <a:endParaRPr lang="en-US" sz="1400" dirty="0"/>
          </a:p>
        </p:txBody>
      </p:sp>
      <p:sp>
        <p:nvSpPr>
          <p:cNvPr id="20" name="diagram arrow 34"/>
          <p:cNvSpPr/>
          <p:nvPr/>
        </p:nvSpPr>
        <p:spPr>
          <a:xfrm>
            <a:off x="10522915" y="2926080"/>
            <a:ext cx="914" cy="685800"/>
          </a:xfrm>
          <a:prstGeom prst="line">
            <a:avLst/>
          </a:prstGeom>
          <a:noFill/>
          <a:ln w="22225">
            <a:solidFill>
              <a:srgbClr val="64748B"/>
            </a:solidFill>
            <a:prstDash val="solid"/>
            <a:tailEnd type="triangle"/>
          </a:ln>
        </p:spPr>
      </p:sp>
      <p:sp>
        <p:nvSpPr>
          <p:cNvPr id="21" name="diagram note 35"/>
          <p:cNvSpPr txBox="1"/>
          <p:nvPr/>
        </p:nvSpPr>
        <p:spPr>
          <a:xfrm>
            <a:off x="10596067" y="3017520"/>
            <a:ext cx="457200" cy="292608"/>
          </a:xfrm>
          <a:prstGeom prst="rect">
            <a:avLst/>
          </a:prstGeom>
          <a:noFill/>
          <a:ln/>
        </p:spPr>
        <p:txBody>
          <a:bodyPr wrap="square" lIns="0" tIns="0" rIns="0" bIns="0" rtlCol="0" anchor="ctr"/>
          <a:lstStyle/>
          <a:p>
            <a:pPr algn="l" indent="0" marL="0">
              <a:buNone/>
            </a:pPr>
            <a:r>
              <a:rPr lang="en-US" sz="1200" b="1" dirty="0">
                <a:solidFill>
                  <a:srgbClr val="15803D"/>
                </a:solidFill>
              </a:rPr>
              <a:t>Yes</a:t>
            </a:r>
            <a:endParaRPr lang="en-US" sz="1200" dirty="0"/>
          </a:p>
        </p:txBody>
      </p:sp>
      <p:sp>
        <p:nvSpPr>
          <p:cNvPr id="22" name="diagram shape 36"/>
          <p:cNvSpPr/>
          <p:nvPr/>
        </p:nvSpPr>
        <p:spPr>
          <a:xfrm>
            <a:off x="6451397" y="3749040"/>
            <a:ext cx="2240280" cy="914400"/>
          </a:xfrm>
          <a:prstGeom prst="roundRect">
            <a:avLst>
              <a:gd name="adj" fmla="val 10000"/>
            </a:avLst>
          </a:prstGeom>
          <a:solidFill>
            <a:srgbClr val="EEF2FF"/>
          </a:solidFill>
          <a:ln w="19050">
            <a:solidFill>
              <a:srgbClr val="4F46E5"/>
            </a:solidFill>
            <a:prstDash val="solid"/>
          </a:ln>
        </p:spPr>
      </p:sp>
      <p:sp>
        <p:nvSpPr>
          <p:cNvPr id="23" name="diagram label 36"/>
          <p:cNvSpPr txBox="1"/>
          <p:nvPr/>
        </p:nvSpPr>
        <p:spPr>
          <a:xfrm>
            <a:off x="6542837" y="3749040"/>
            <a:ext cx="2057400" cy="914400"/>
          </a:xfrm>
          <a:prstGeom prst="rect">
            <a:avLst/>
          </a:prstGeom>
          <a:noFill/>
          <a:ln/>
        </p:spPr>
        <p:txBody>
          <a:bodyPr wrap="square" lIns="0" tIns="0" rIns="0" bIns="0" rtlCol="0" anchor="ctr"/>
          <a:lstStyle/>
          <a:p>
            <a:pPr algn="ctr" indent="0" marL="0">
              <a:buNone/>
            </a:pPr>
            <a:r>
              <a:rPr lang="en-US" sz="1400" b="1" dirty="0">
                <a:solidFill>
                  <a:srgbClr val="1E1B4B"/>
                </a:solidFill>
              </a:rPr>
              <a:t>One DB transaction</a:t>
            </a:r>
            <a:endParaRPr lang="en-US" sz="1400" dirty="0"/>
          </a:p>
          <a:p>
            <a:pPr algn="ctr" indent="0" marL="0">
              <a:buNone/>
            </a:pPr>
            <a:r>
              <a:rPr lang="en-US" sz="1400" b="1" dirty="0">
                <a:solidFill>
                  <a:srgbClr val="1E1B4B"/>
                </a:solidFill>
              </a:rPr>
              <a:t>clients · projects · tasks</a:t>
            </a:r>
            <a:endParaRPr lang="en-US" sz="1400" dirty="0"/>
          </a:p>
        </p:txBody>
      </p:sp>
      <p:sp>
        <p:nvSpPr>
          <p:cNvPr id="24" name="diagram shape 37"/>
          <p:cNvSpPr/>
          <p:nvPr/>
        </p:nvSpPr>
        <p:spPr>
          <a:xfrm>
            <a:off x="3500018" y="3749040"/>
            <a:ext cx="2240280" cy="914400"/>
          </a:xfrm>
          <a:prstGeom prst="roundRect">
            <a:avLst>
              <a:gd name="adj" fmla="val 10000"/>
            </a:avLst>
          </a:prstGeom>
          <a:solidFill>
            <a:srgbClr val="DCFCE7"/>
          </a:solidFill>
          <a:ln w="19050">
            <a:solidFill>
              <a:srgbClr val="16A34A"/>
            </a:solidFill>
            <a:prstDash val="solid"/>
          </a:ln>
        </p:spPr>
      </p:sp>
      <p:sp>
        <p:nvSpPr>
          <p:cNvPr id="25" name="diagram label 37"/>
          <p:cNvSpPr txBox="1"/>
          <p:nvPr/>
        </p:nvSpPr>
        <p:spPr>
          <a:xfrm>
            <a:off x="3591458" y="3749040"/>
            <a:ext cx="2057400" cy="914400"/>
          </a:xfrm>
          <a:prstGeom prst="rect">
            <a:avLst/>
          </a:prstGeom>
          <a:noFill/>
          <a:ln/>
        </p:spPr>
        <p:txBody>
          <a:bodyPr wrap="square" lIns="0" tIns="0" rIns="0" bIns="0" rtlCol="0" anchor="ctr"/>
          <a:lstStyle/>
          <a:p>
            <a:pPr algn="ctr" indent="0" marL="0">
              <a:buNone/>
            </a:pPr>
            <a:r>
              <a:rPr lang="en-US" sz="1400" b="1" dirty="0">
                <a:solidFill>
                  <a:srgbClr val="14532D"/>
                </a:solidFill>
              </a:rPr>
              <a:t>201 Created</a:t>
            </a:r>
            <a:endParaRPr lang="en-US" sz="1400" dirty="0"/>
          </a:p>
          <a:p>
            <a:pPr algn="ctr" indent="0" marL="0">
              <a:buNone/>
            </a:pPr>
            <a:r>
              <a:rPr lang="en-US" sz="1400" b="1" dirty="0">
                <a:solidFill>
                  <a:srgbClr val="14532D"/>
                </a:solidFill>
              </a:rPr>
              <a:t>3 projects · 12 tasks</a:t>
            </a:r>
            <a:endParaRPr lang="en-US" sz="1400" dirty="0"/>
          </a:p>
        </p:txBody>
      </p:sp>
      <p:sp>
        <p:nvSpPr>
          <p:cNvPr id="26" name="diagram shape 38"/>
          <p:cNvSpPr/>
          <p:nvPr/>
        </p:nvSpPr>
        <p:spPr>
          <a:xfrm>
            <a:off x="548640" y="3749040"/>
            <a:ext cx="2240280" cy="914400"/>
          </a:xfrm>
          <a:prstGeom prst="roundRect">
            <a:avLst>
              <a:gd name="adj" fmla="val 10000"/>
            </a:avLst>
          </a:prstGeom>
          <a:solidFill>
            <a:srgbClr val="DCFCE7"/>
          </a:solidFill>
          <a:ln w="19050">
            <a:solidFill>
              <a:srgbClr val="16A34A"/>
            </a:solidFill>
            <a:prstDash val="solid"/>
          </a:ln>
        </p:spPr>
      </p:sp>
      <p:sp>
        <p:nvSpPr>
          <p:cNvPr id="27" name="diagram label 38"/>
          <p:cNvSpPr txBox="1"/>
          <p:nvPr/>
        </p:nvSpPr>
        <p:spPr>
          <a:xfrm>
            <a:off x="640080" y="3749040"/>
            <a:ext cx="2057400" cy="914400"/>
          </a:xfrm>
          <a:prstGeom prst="rect">
            <a:avLst/>
          </a:prstGeom>
          <a:noFill/>
          <a:ln/>
        </p:spPr>
        <p:txBody>
          <a:bodyPr wrap="square" lIns="0" tIns="0" rIns="0" bIns="0" rtlCol="0" anchor="ctr"/>
          <a:lstStyle/>
          <a:p>
            <a:pPr algn="ctr" indent="0" marL="0">
              <a:buNone/>
            </a:pPr>
            <a:r>
              <a:rPr lang="en-US" sz="1400" b="1" dirty="0">
                <a:solidFill>
                  <a:srgbClr val="14532D"/>
                </a:solidFill>
              </a:rPr>
              <a:t>Each role sees</a:t>
            </a:r>
            <a:endParaRPr lang="en-US" sz="1400" dirty="0"/>
          </a:p>
          <a:p>
            <a:pPr algn="ctr" indent="0" marL="0">
              <a:buNone/>
            </a:pPr>
            <a:r>
              <a:rPr lang="en-US" sz="1400" b="1" dirty="0">
                <a:solidFill>
                  <a:srgbClr val="14532D"/>
                </a:solidFill>
              </a:rPr>
              <a:t>its own work</a:t>
            </a:r>
            <a:endParaRPr lang="en-US" sz="1400" dirty="0"/>
          </a:p>
        </p:txBody>
      </p:sp>
      <p:sp>
        <p:nvSpPr>
          <p:cNvPr id="28" name="diagram arrow 39"/>
          <p:cNvSpPr/>
          <p:nvPr/>
        </p:nvSpPr>
        <p:spPr>
          <a:xfrm flipH="1">
            <a:off x="8691677" y="4206240"/>
            <a:ext cx="711098" cy="914"/>
          </a:xfrm>
          <a:prstGeom prst="line">
            <a:avLst/>
          </a:prstGeom>
          <a:noFill/>
          <a:ln w="22225">
            <a:solidFill>
              <a:srgbClr val="64748B"/>
            </a:solidFill>
            <a:prstDash val="solid"/>
            <a:tailEnd type="triangle"/>
          </a:ln>
        </p:spPr>
      </p:sp>
      <p:sp>
        <p:nvSpPr>
          <p:cNvPr id="29" name="diagram note 40"/>
          <p:cNvSpPr txBox="1"/>
          <p:nvPr/>
        </p:nvSpPr>
        <p:spPr>
          <a:xfrm>
            <a:off x="8737397" y="3877056"/>
            <a:ext cx="711098" cy="292608"/>
          </a:xfrm>
          <a:prstGeom prst="rect">
            <a:avLst/>
          </a:prstGeom>
          <a:noFill/>
          <a:ln/>
        </p:spPr>
        <p:txBody>
          <a:bodyPr wrap="square" lIns="0" tIns="0" rIns="0" bIns="0" rtlCol="0" anchor="ctr"/>
          <a:lstStyle/>
          <a:p>
            <a:pPr algn="ctr" indent="0" marL="0">
              <a:buNone/>
            </a:pPr>
            <a:r>
              <a:rPr lang="en-US" sz="1200" b="1" dirty="0">
                <a:solidFill>
                  <a:srgbClr val="15803D"/>
                </a:solidFill>
              </a:rPr>
              <a:t>Yes</a:t>
            </a:r>
            <a:endParaRPr lang="en-US" sz="1200" dirty="0"/>
          </a:p>
        </p:txBody>
      </p:sp>
      <p:sp>
        <p:nvSpPr>
          <p:cNvPr id="30" name="diagram arrow 41"/>
          <p:cNvSpPr/>
          <p:nvPr/>
        </p:nvSpPr>
        <p:spPr>
          <a:xfrm flipH="1">
            <a:off x="5740298" y="4206240"/>
            <a:ext cx="711098" cy="914"/>
          </a:xfrm>
          <a:prstGeom prst="line">
            <a:avLst/>
          </a:prstGeom>
          <a:noFill/>
          <a:ln w="22225">
            <a:solidFill>
              <a:srgbClr val="64748B"/>
            </a:solidFill>
            <a:prstDash val="solid"/>
            <a:tailEnd type="triangle"/>
          </a:ln>
        </p:spPr>
      </p:sp>
      <p:sp>
        <p:nvSpPr>
          <p:cNvPr id="31" name="diagram arrow 42"/>
          <p:cNvSpPr/>
          <p:nvPr/>
        </p:nvSpPr>
        <p:spPr>
          <a:xfrm flipH="1">
            <a:off x="2788920" y="4206240"/>
            <a:ext cx="711098" cy="914"/>
          </a:xfrm>
          <a:prstGeom prst="line">
            <a:avLst/>
          </a:prstGeom>
          <a:noFill/>
          <a:ln w="22225">
            <a:solidFill>
              <a:srgbClr val="64748B"/>
            </a:solidFill>
            <a:prstDash val="solid"/>
            <a:tailEnd type="triangle"/>
          </a:ln>
        </p:spPr>
      </p:sp>
      <p:sp>
        <p:nvSpPr>
          <p:cNvPr id="32" name="diagram shape 43"/>
          <p:cNvSpPr/>
          <p:nvPr/>
        </p:nvSpPr>
        <p:spPr>
          <a:xfrm>
            <a:off x="9402775" y="5349240"/>
            <a:ext cx="2240280" cy="777240"/>
          </a:xfrm>
          <a:prstGeom prst="roundRect">
            <a:avLst>
              <a:gd name="adj" fmla="val 11765"/>
            </a:avLst>
          </a:prstGeom>
          <a:solidFill>
            <a:srgbClr val="FEE2E2"/>
          </a:solidFill>
          <a:ln w="19050">
            <a:solidFill>
              <a:srgbClr val="DC2626"/>
            </a:solidFill>
            <a:prstDash val="solid"/>
          </a:ln>
        </p:spPr>
      </p:sp>
      <p:sp>
        <p:nvSpPr>
          <p:cNvPr id="33" name="diagram label 43"/>
          <p:cNvSpPr txBox="1"/>
          <p:nvPr/>
        </p:nvSpPr>
        <p:spPr>
          <a:xfrm>
            <a:off x="9494215" y="5349240"/>
            <a:ext cx="2057400" cy="777240"/>
          </a:xfrm>
          <a:prstGeom prst="rect">
            <a:avLst/>
          </a:prstGeom>
          <a:noFill/>
          <a:ln/>
        </p:spPr>
        <p:txBody>
          <a:bodyPr wrap="square" lIns="0" tIns="0" rIns="0" bIns="0" rtlCol="0" anchor="ctr"/>
          <a:lstStyle/>
          <a:p>
            <a:pPr algn="ctr" indent="0" marL="0">
              <a:buNone/>
            </a:pPr>
            <a:r>
              <a:rPr lang="en-US" sz="1400" b="1" dirty="0">
                <a:solidFill>
                  <a:srgbClr val="7F1D1D"/>
                </a:solidFill>
              </a:rPr>
              <a:t>400 + issues list</a:t>
            </a:r>
            <a:endParaRPr lang="en-US" sz="1400" dirty="0"/>
          </a:p>
          <a:p>
            <a:pPr algn="ctr" indent="0" marL="0">
              <a:buNone/>
            </a:pPr>
            <a:r>
              <a:rPr lang="en-US" sz="1400" b="1" dirty="0">
                <a:solidFill>
                  <a:srgbClr val="7F1D1D"/>
                </a:solidFill>
              </a:rPr>
              <a:t>nothing saved</a:t>
            </a:r>
            <a:endParaRPr lang="en-US" sz="1400" dirty="0"/>
          </a:p>
        </p:txBody>
      </p:sp>
      <p:sp>
        <p:nvSpPr>
          <p:cNvPr id="34" name="diagram arrow 44"/>
          <p:cNvSpPr/>
          <p:nvPr/>
        </p:nvSpPr>
        <p:spPr>
          <a:xfrm>
            <a:off x="10522915" y="4800600"/>
            <a:ext cx="914" cy="548640"/>
          </a:xfrm>
          <a:prstGeom prst="line">
            <a:avLst/>
          </a:prstGeom>
          <a:noFill/>
          <a:ln w="22225">
            <a:solidFill>
              <a:srgbClr val="64748B"/>
            </a:solidFill>
            <a:prstDash val="solid"/>
            <a:tailEnd type="triangle"/>
          </a:ln>
        </p:spPr>
      </p:sp>
      <p:sp>
        <p:nvSpPr>
          <p:cNvPr id="35" name="diagram note 45"/>
          <p:cNvSpPr txBox="1"/>
          <p:nvPr/>
        </p:nvSpPr>
        <p:spPr>
          <a:xfrm>
            <a:off x="10596067" y="4846320"/>
            <a:ext cx="457200" cy="292608"/>
          </a:xfrm>
          <a:prstGeom prst="rect">
            <a:avLst/>
          </a:prstGeom>
          <a:noFill/>
          <a:ln/>
        </p:spPr>
        <p:txBody>
          <a:bodyPr wrap="square" lIns="0" tIns="0" rIns="0" bIns="0" rtlCol="0" anchor="ctr"/>
          <a:lstStyle/>
          <a:p>
            <a:pPr algn="l" indent="0" marL="0">
              <a:buNone/>
            </a:pPr>
            <a:r>
              <a:rPr lang="en-US" sz="1200" b="1" dirty="0">
                <a:solidFill>
                  <a:srgbClr val="B91C1C"/>
                </a:solidFill>
              </a:rPr>
              <a:t>No</a:t>
            </a:r>
            <a:endParaRPr lang="en-US" sz="1200" dirty="0"/>
          </a:p>
        </p:txBody>
      </p:sp>
      <p:sp>
        <p:nvSpPr>
          <p:cNvPr id="36" name="diagram note 46"/>
          <p:cNvSpPr txBox="1"/>
          <p:nvPr/>
        </p:nvSpPr>
        <p:spPr>
          <a:xfrm>
            <a:off x="548640" y="5577840"/>
            <a:ext cx="5943600" cy="292608"/>
          </a:xfrm>
          <a:prstGeom prst="rect">
            <a:avLst/>
          </a:prstGeom>
          <a:noFill/>
          <a:ln/>
        </p:spPr>
        <p:txBody>
          <a:bodyPr wrap="square" lIns="0" tIns="0" rIns="0" bIns="0" rtlCol="0" anchor="ctr"/>
          <a:lstStyle/>
          <a:p>
            <a:pPr algn="l" indent="0" marL="0">
              <a:buNone/>
            </a:pPr>
            <a:r>
              <a:rPr lang="en-US" sz="1200" dirty="0">
                <a:solidFill>
                  <a:srgbClr val="475569"/>
                </a:solidFill>
              </a:rPr>
              <a:t>Checks: manager is a MANAGER · owner is an AGENT · hours &gt; 0 · task date ≤ project date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Flowchart: every API request</a:t>
            </a:r>
            <a:endParaRPr lang="en-US" sz="3400" dirty="0"/>
          </a:p>
        </p:txBody>
      </p:sp>
      <p:sp>
        <p:nvSpPr>
          <p:cNvPr id="3" name="diagram shape 47"/>
          <p:cNvSpPr/>
          <p:nvPr/>
        </p:nvSpPr>
        <p:spPr>
          <a:xfrm>
            <a:off x="548640" y="2377440"/>
            <a:ext cx="1874520" cy="914400"/>
          </a:xfrm>
          <a:prstGeom prst="roundRect">
            <a:avLst>
              <a:gd name="adj" fmla="val 10000"/>
            </a:avLst>
          </a:prstGeom>
          <a:solidFill>
            <a:srgbClr val="FFFFFF"/>
          </a:solidFill>
          <a:ln w="19050">
            <a:solidFill>
              <a:srgbClr val="CBD5E1"/>
            </a:solidFill>
            <a:prstDash val="solid"/>
          </a:ln>
        </p:spPr>
      </p:sp>
      <p:sp>
        <p:nvSpPr>
          <p:cNvPr id="4" name="diagram label 47"/>
          <p:cNvSpPr txBox="1"/>
          <p:nvPr/>
        </p:nvSpPr>
        <p:spPr>
          <a:xfrm>
            <a:off x="640080" y="2377440"/>
            <a:ext cx="1691640" cy="914400"/>
          </a:xfrm>
          <a:prstGeom prst="rect">
            <a:avLst/>
          </a:prstGeom>
          <a:noFill/>
          <a:ln/>
        </p:spPr>
        <p:txBody>
          <a:bodyPr wrap="square" lIns="0" tIns="0" rIns="0" bIns="0" rtlCol="0" anchor="ctr"/>
          <a:lstStyle/>
          <a:p>
            <a:pPr algn="ctr" indent="0" marL="0">
              <a:buNone/>
            </a:pPr>
            <a:r>
              <a:rPr lang="en-US" sz="1400" b="1" dirty="0">
                <a:solidFill>
                  <a:srgbClr val="0F172A"/>
                </a:solidFill>
              </a:rPr>
              <a:t>Request</a:t>
            </a:r>
            <a:endParaRPr lang="en-US" sz="1400" dirty="0"/>
          </a:p>
          <a:p>
            <a:pPr algn="ctr" indent="0" marL="0">
              <a:buNone/>
            </a:pPr>
            <a:r>
              <a:rPr lang="en-US" sz="1400" b="1" dirty="0">
                <a:solidFill>
                  <a:srgbClr val="0F172A"/>
                </a:solidFill>
              </a:rPr>
              <a:t>+ cookie</a:t>
            </a:r>
            <a:endParaRPr lang="en-US" sz="1400" dirty="0"/>
          </a:p>
        </p:txBody>
      </p:sp>
      <p:sp>
        <p:nvSpPr>
          <p:cNvPr id="5" name="diagram shape 48"/>
          <p:cNvSpPr/>
          <p:nvPr/>
        </p:nvSpPr>
        <p:spPr>
          <a:xfrm>
            <a:off x="2853614" y="2194560"/>
            <a:ext cx="1874520" cy="1280160"/>
          </a:xfrm>
          <a:prstGeom prst="diamond">
            <a:avLst/>
          </a:prstGeom>
          <a:solidFill>
            <a:srgbClr val="EEF2FF"/>
          </a:solidFill>
          <a:ln w="19050">
            <a:solidFill>
              <a:srgbClr val="4F46E5"/>
            </a:solidFill>
            <a:prstDash val="solid"/>
          </a:ln>
        </p:spPr>
      </p:sp>
      <p:sp>
        <p:nvSpPr>
          <p:cNvPr id="6" name="diagram label 48"/>
          <p:cNvSpPr txBox="1"/>
          <p:nvPr/>
        </p:nvSpPr>
        <p:spPr>
          <a:xfrm>
            <a:off x="3228518" y="2194560"/>
            <a:ext cx="1124712" cy="1280160"/>
          </a:xfrm>
          <a:prstGeom prst="rect">
            <a:avLst/>
          </a:prstGeom>
          <a:noFill/>
          <a:ln/>
        </p:spPr>
        <p:txBody>
          <a:bodyPr wrap="square" lIns="0" tIns="0" rIns="0" bIns="0" rtlCol="0" anchor="ctr"/>
          <a:lstStyle/>
          <a:p>
            <a:pPr algn="ctr" indent="0" marL="0">
              <a:buNone/>
            </a:pPr>
            <a:r>
              <a:rPr lang="en-US" sz="1400" b="1" dirty="0">
                <a:solidFill>
                  <a:srgbClr val="1E1B4B"/>
                </a:solidFill>
              </a:rPr>
              <a:t>Session valid?</a:t>
            </a:r>
            <a:endParaRPr lang="en-US" sz="1400" dirty="0"/>
          </a:p>
        </p:txBody>
      </p:sp>
      <p:sp>
        <p:nvSpPr>
          <p:cNvPr id="7" name="diagram shape 49"/>
          <p:cNvSpPr/>
          <p:nvPr/>
        </p:nvSpPr>
        <p:spPr>
          <a:xfrm>
            <a:off x="5158588" y="2377440"/>
            <a:ext cx="1874520" cy="914400"/>
          </a:xfrm>
          <a:prstGeom prst="roundRect">
            <a:avLst>
              <a:gd name="adj" fmla="val 10000"/>
            </a:avLst>
          </a:prstGeom>
          <a:solidFill>
            <a:srgbClr val="EEF2FF"/>
          </a:solidFill>
          <a:ln w="19050">
            <a:solidFill>
              <a:srgbClr val="4F46E5"/>
            </a:solidFill>
            <a:prstDash val="solid"/>
          </a:ln>
        </p:spPr>
      </p:sp>
      <p:sp>
        <p:nvSpPr>
          <p:cNvPr id="8" name="diagram label 49"/>
          <p:cNvSpPr txBox="1"/>
          <p:nvPr/>
        </p:nvSpPr>
        <p:spPr>
          <a:xfrm>
            <a:off x="5250028" y="2377440"/>
            <a:ext cx="1691640" cy="914400"/>
          </a:xfrm>
          <a:prstGeom prst="rect">
            <a:avLst/>
          </a:prstGeom>
          <a:noFill/>
          <a:ln/>
        </p:spPr>
        <p:txBody>
          <a:bodyPr wrap="square" lIns="0" tIns="0" rIns="0" bIns="0" rtlCol="0" anchor="ctr"/>
          <a:lstStyle/>
          <a:p>
            <a:pPr algn="ctr" indent="0" marL="0">
              <a:buNone/>
            </a:pPr>
            <a:r>
              <a:rPr lang="en-US" sz="1400" b="1" dirty="0">
                <a:solidFill>
                  <a:srgbClr val="1E1B4B"/>
                </a:solidFill>
              </a:rPr>
              <a:t>Role filter in</a:t>
            </a:r>
            <a:endParaRPr lang="en-US" sz="1400" dirty="0"/>
          </a:p>
          <a:p>
            <a:pPr algn="ctr" indent="0" marL="0">
              <a:buNone/>
            </a:pPr>
            <a:r>
              <a:rPr lang="en-US" sz="1400" b="1" dirty="0">
                <a:solidFill>
                  <a:srgbClr val="1E1B4B"/>
                </a:solidFill>
              </a:rPr>
              <a:t>DB query</a:t>
            </a:r>
            <a:endParaRPr lang="en-US" sz="1400" dirty="0"/>
          </a:p>
        </p:txBody>
      </p:sp>
      <p:sp>
        <p:nvSpPr>
          <p:cNvPr id="9" name="diagram shape 50"/>
          <p:cNvSpPr/>
          <p:nvPr/>
        </p:nvSpPr>
        <p:spPr>
          <a:xfrm>
            <a:off x="7463561" y="2194560"/>
            <a:ext cx="1874520" cy="1280160"/>
          </a:xfrm>
          <a:prstGeom prst="diamond">
            <a:avLst/>
          </a:prstGeom>
          <a:solidFill>
            <a:srgbClr val="EEF2FF"/>
          </a:solidFill>
          <a:ln w="19050">
            <a:solidFill>
              <a:srgbClr val="4F46E5"/>
            </a:solidFill>
            <a:prstDash val="solid"/>
          </a:ln>
        </p:spPr>
      </p:sp>
      <p:sp>
        <p:nvSpPr>
          <p:cNvPr id="10" name="diagram label 50"/>
          <p:cNvSpPr txBox="1"/>
          <p:nvPr/>
        </p:nvSpPr>
        <p:spPr>
          <a:xfrm>
            <a:off x="7838465" y="2194560"/>
            <a:ext cx="1124712" cy="1280160"/>
          </a:xfrm>
          <a:prstGeom prst="rect">
            <a:avLst/>
          </a:prstGeom>
          <a:noFill/>
          <a:ln/>
        </p:spPr>
        <p:txBody>
          <a:bodyPr wrap="square" lIns="0" tIns="0" rIns="0" bIns="0" rtlCol="0" anchor="ctr"/>
          <a:lstStyle/>
          <a:p>
            <a:pPr algn="ctr" indent="0" marL="0">
              <a:buNone/>
            </a:pPr>
            <a:r>
              <a:rPr lang="en-US" sz="1400" b="1" dirty="0">
                <a:solidFill>
                  <a:srgbClr val="1E1B4B"/>
                </a:solidFill>
              </a:rPr>
              <a:t>In user's scope?</a:t>
            </a:r>
            <a:endParaRPr lang="en-US" sz="1400" dirty="0"/>
          </a:p>
        </p:txBody>
      </p:sp>
      <p:sp>
        <p:nvSpPr>
          <p:cNvPr id="11" name="diagram shape 51"/>
          <p:cNvSpPr/>
          <p:nvPr/>
        </p:nvSpPr>
        <p:spPr>
          <a:xfrm>
            <a:off x="9768535" y="2377440"/>
            <a:ext cx="1874520" cy="914400"/>
          </a:xfrm>
          <a:prstGeom prst="roundRect">
            <a:avLst>
              <a:gd name="adj" fmla="val 10000"/>
            </a:avLst>
          </a:prstGeom>
          <a:solidFill>
            <a:srgbClr val="DCFCE7"/>
          </a:solidFill>
          <a:ln w="19050">
            <a:solidFill>
              <a:srgbClr val="16A34A"/>
            </a:solidFill>
            <a:prstDash val="solid"/>
          </a:ln>
        </p:spPr>
      </p:sp>
      <p:sp>
        <p:nvSpPr>
          <p:cNvPr id="12" name="diagram label 51"/>
          <p:cNvSpPr txBox="1"/>
          <p:nvPr/>
        </p:nvSpPr>
        <p:spPr>
          <a:xfrm>
            <a:off x="9859975" y="2377440"/>
            <a:ext cx="1691640" cy="914400"/>
          </a:xfrm>
          <a:prstGeom prst="rect">
            <a:avLst/>
          </a:prstGeom>
          <a:noFill/>
          <a:ln/>
        </p:spPr>
        <p:txBody>
          <a:bodyPr wrap="square" lIns="0" tIns="0" rIns="0" bIns="0" rtlCol="0" anchor="ctr"/>
          <a:lstStyle/>
          <a:p>
            <a:pPr algn="ctr" indent="0" marL="0">
              <a:buNone/>
            </a:pPr>
            <a:r>
              <a:rPr lang="en-US" sz="1400" b="1" dirty="0">
                <a:solidFill>
                  <a:srgbClr val="14532D"/>
                </a:solidFill>
              </a:rPr>
              <a:t>200 JSON</a:t>
            </a:r>
            <a:endParaRPr lang="en-US" sz="1400" dirty="0"/>
          </a:p>
          <a:p>
            <a:pPr algn="ctr" indent="0" marL="0">
              <a:buNone/>
            </a:pPr>
            <a:r>
              <a:rPr lang="en-US" sz="1400" b="1" dirty="0">
                <a:solidFill>
                  <a:srgbClr val="14532D"/>
                </a:solidFill>
              </a:rPr>
              <a:t>only allowed data</a:t>
            </a:r>
            <a:endParaRPr lang="en-US" sz="1400" dirty="0"/>
          </a:p>
        </p:txBody>
      </p:sp>
      <p:sp>
        <p:nvSpPr>
          <p:cNvPr id="13" name="diagram arrow 52"/>
          <p:cNvSpPr/>
          <p:nvPr/>
        </p:nvSpPr>
        <p:spPr>
          <a:xfrm>
            <a:off x="2423160" y="2834640"/>
            <a:ext cx="430454" cy="914"/>
          </a:xfrm>
          <a:prstGeom prst="line">
            <a:avLst/>
          </a:prstGeom>
          <a:noFill/>
          <a:ln w="22225">
            <a:solidFill>
              <a:srgbClr val="64748B"/>
            </a:solidFill>
            <a:prstDash val="solid"/>
            <a:tailEnd type="triangle"/>
          </a:ln>
        </p:spPr>
      </p:sp>
      <p:sp>
        <p:nvSpPr>
          <p:cNvPr id="14" name="diagram arrow 53"/>
          <p:cNvSpPr/>
          <p:nvPr/>
        </p:nvSpPr>
        <p:spPr>
          <a:xfrm>
            <a:off x="4728134" y="2834640"/>
            <a:ext cx="430454" cy="914"/>
          </a:xfrm>
          <a:prstGeom prst="line">
            <a:avLst/>
          </a:prstGeom>
          <a:noFill/>
          <a:ln w="22225">
            <a:solidFill>
              <a:srgbClr val="64748B"/>
            </a:solidFill>
            <a:prstDash val="solid"/>
            <a:tailEnd type="triangle"/>
          </a:ln>
        </p:spPr>
      </p:sp>
      <p:sp>
        <p:nvSpPr>
          <p:cNvPr id="15" name="diagram note 54"/>
          <p:cNvSpPr txBox="1"/>
          <p:nvPr/>
        </p:nvSpPr>
        <p:spPr>
          <a:xfrm>
            <a:off x="4728134" y="2505456"/>
            <a:ext cx="430454" cy="292608"/>
          </a:xfrm>
          <a:prstGeom prst="rect">
            <a:avLst/>
          </a:prstGeom>
          <a:noFill/>
          <a:ln/>
        </p:spPr>
        <p:txBody>
          <a:bodyPr wrap="square" lIns="0" tIns="0" rIns="0" bIns="0" rtlCol="0" anchor="ctr"/>
          <a:lstStyle/>
          <a:p>
            <a:pPr algn="ctr" indent="0" marL="0">
              <a:buNone/>
            </a:pPr>
            <a:r>
              <a:rPr lang="en-US" sz="1200" b="1" dirty="0">
                <a:solidFill>
                  <a:srgbClr val="15803D"/>
                </a:solidFill>
              </a:rPr>
              <a:t>Yes</a:t>
            </a:r>
            <a:endParaRPr lang="en-US" sz="1200" dirty="0"/>
          </a:p>
        </p:txBody>
      </p:sp>
      <p:sp>
        <p:nvSpPr>
          <p:cNvPr id="16" name="diagram arrow 55"/>
          <p:cNvSpPr/>
          <p:nvPr/>
        </p:nvSpPr>
        <p:spPr>
          <a:xfrm>
            <a:off x="7033108" y="2834640"/>
            <a:ext cx="430454" cy="914"/>
          </a:xfrm>
          <a:prstGeom prst="line">
            <a:avLst/>
          </a:prstGeom>
          <a:noFill/>
          <a:ln w="22225">
            <a:solidFill>
              <a:srgbClr val="64748B"/>
            </a:solidFill>
            <a:prstDash val="solid"/>
            <a:tailEnd type="triangle"/>
          </a:ln>
        </p:spPr>
      </p:sp>
      <p:sp>
        <p:nvSpPr>
          <p:cNvPr id="17" name="diagram arrow 56"/>
          <p:cNvSpPr/>
          <p:nvPr/>
        </p:nvSpPr>
        <p:spPr>
          <a:xfrm>
            <a:off x="9338081" y="2834640"/>
            <a:ext cx="430454" cy="914"/>
          </a:xfrm>
          <a:prstGeom prst="line">
            <a:avLst/>
          </a:prstGeom>
          <a:noFill/>
          <a:ln w="22225">
            <a:solidFill>
              <a:srgbClr val="64748B"/>
            </a:solidFill>
            <a:prstDash val="solid"/>
            <a:tailEnd type="triangle"/>
          </a:ln>
        </p:spPr>
      </p:sp>
      <p:sp>
        <p:nvSpPr>
          <p:cNvPr id="18" name="diagram note 57"/>
          <p:cNvSpPr txBox="1"/>
          <p:nvPr/>
        </p:nvSpPr>
        <p:spPr>
          <a:xfrm>
            <a:off x="9338081" y="2505456"/>
            <a:ext cx="430454" cy="292608"/>
          </a:xfrm>
          <a:prstGeom prst="rect">
            <a:avLst/>
          </a:prstGeom>
          <a:noFill/>
          <a:ln/>
        </p:spPr>
        <p:txBody>
          <a:bodyPr wrap="square" lIns="0" tIns="0" rIns="0" bIns="0" rtlCol="0" anchor="ctr"/>
          <a:lstStyle/>
          <a:p>
            <a:pPr algn="ctr" indent="0" marL="0">
              <a:buNone/>
            </a:pPr>
            <a:r>
              <a:rPr lang="en-US" sz="1200" b="1" dirty="0">
                <a:solidFill>
                  <a:srgbClr val="15803D"/>
                </a:solidFill>
              </a:rPr>
              <a:t>Yes</a:t>
            </a:r>
            <a:endParaRPr lang="en-US" sz="1200" dirty="0"/>
          </a:p>
        </p:txBody>
      </p:sp>
      <p:sp>
        <p:nvSpPr>
          <p:cNvPr id="19" name="diagram shape 58"/>
          <p:cNvSpPr/>
          <p:nvPr/>
        </p:nvSpPr>
        <p:spPr>
          <a:xfrm>
            <a:off x="2853614" y="4297680"/>
            <a:ext cx="1874520" cy="731520"/>
          </a:xfrm>
          <a:prstGeom prst="roundRect">
            <a:avLst>
              <a:gd name="adj" fmla="val 12500"/>
            </a:avLst>
          </a:prstGeom>
          <a:solidFill>
            <a:srgbClr val="FEE2E2"/>
          </a:solidFill>
          <a:ln w="19050">
            <a:solidFill>
              <a:srgbClr val="DC2626"/>
            </a:solidFill>
            <a:prstDash val="solid"/>
          </a:ln>
        </p:spPr>
      </p:sp>
      <p:sp>
        <p:nvSpPr>
          <p:cNvPr id="20" name="diagram label 58"/>
          <p:cNvSpPr txBox="1"/>
          <p:nvPr/>
        </p:nvSpPr>
        <p:spPr>
          <a:xfrm>
            <a:off x="2945054" y="4297680"/>
            <a:ext cx="1691640" cy="731520"/>
          </a:xfrm>
          <a:prstGeom prst="rect">
            <a:avLst/>
          </a:prstGeom>
          <a:noFill/>
          <a:ln/>
        </p:spPr>
        <p:txBody>
          <a:bodyPr wrap="square" lIns="0" tIns="0" rIns="0" bIns="0" rtlCol="0" anchor="ctr"/>
          <a:lstStyle/>
          <a:p>
            <a:pPr algn="ctr" indent="0" marL="0">
              <a:buNone/>
            </a:pPr>
            <a:r>
              <a:rPr lang="en-US" sz="1400" b="1" dirty="0">
                <a:solidFill>
                  <a:srgbClr val="7F1D1D"/>
                </a:solidFill>
              </a:rPr>
              <a:t>401</a:t>
            </a:r>
            <a:endParaRPr lang="en-US" sz="1400" dirty="0"/>
          </a:p>
          <a:p>
            <a:pPr algn="ctr" indent="0" marL="0">
              <a:buNone/>
            </a:pPr>
            <a:r>
              <a:rPr lang="en-US" sz="1400" b="1" dirty="0">
                <a:solidFill>
                  <a:srgbClr val="7F1D1D"/>
                </a:solidFill>
              </a:rPr>
              <a:t>Please log in</a:t>
            </a:r>
            <a:endParaRPr lang="en-US" sz="1400" dirty="0"/>
          </a:p>
        </p:txBody>
      </p:sp>
      <p:sp>
        <p:nvSpPr>
          <p:cNvPr id="21" name="diagram arrow 59"/>
          <p:cNvSpPr/>
          <p:nvPr/>
        </p:nvSpPr>
        <p:spPr>
          <a:xfrm>
            <a:off x="3790874" y="3474720"/>
            <a:ext cx="914" cy="822960"/>
          </a:xfrm>
          <a:prstGeom prst="line">
            <a:avLst/>
          </a:prstGeom>
          <a:noFill/>
          <a:ln w="22225">
            <a:solidFill>
              <a:srgbClr val="64748B"/>
            </a:solidFill>
            <a:prstDash val="solid"/>
            <a:tailEnd type="triangle"/>
          </a:ln>
        </p:spPr>
      </p:sp>
      <p:sp>
        <p:nvSpPr>
          <p:cNvPr id="22" name="diagram note 60"/>
          <p:cNvSpPr txBox="1"/>
          <p:nvPr/>
        </p:nvSpPr>
        <p:spPr>
          <a:xfrm>
            <a:off x="3864026" y="3547872"/>
            <a:ext cx="457200" cy="292608"/>
          </a:xfrm>
          <a:prstGeom prst="rect">
            <a:avLst/>
          </a:prstGeom>
          <a:noFill/>
          <a:ln/>
        </p:spPr>
        <p:txBody>
          <a:bodyPr wrap="square" lIns="0" tIns="0" rIns="0" bIns="0" rtlCol="0" anchor="ctr"/>
          <a:lstStyle/>
          <a:p>
            <a:pPr algn="l" indent="0" marL="0">
              <a:buNone/>
            </a:pPr>
            <a:r>
              <a:rPr lang="en-US" sz="1200" b="1" dirty="0">
                <a:solidFill>
                  <a:srgbClr val="B91C1C"/>
                </a:solidFill>
              </a:rPr>
              <a:t>No</a:t>
            </a:r>
            <a:endParaRPr lang="en-US" sz="1200" dirty="0"/>
          </a:p>
        </p:txBody>
      </p:sp>
      <p:sp>
        <p:nvSpPr>
          <p:cNvPr id="23" name="diagram shape 61"/>
          <p:cNvSpPr/>
          <p:nvPr/>
        </p:nvSpPr>
        <p:spPr>
          <a:xfrm>
            <a:off x="7463561" y="4297680"/>
            <a:ext cx="1874520" cy="731520"/>
          </a:xfrm>
          <a:prstGeom prst="roundRect">
            <a:avLst>
              <a:gd name="adj" fmla="val 12500"/>
            </a:avLst>
          </a:prstGeom>
          <a:solidFill>
            <a:srgbClr val="FEE2E2"/>
          </a:solidFill>
          <a:ln w="19050">
            <a:solidFill>
              <a:srgbClr val="DC2626"/>
            </a:solidFill>
            <a:prstDash val="solid"/>
          </a:ln>
        </p:spPr>
      </p:sp>
      <p:sp>
        <p:nvSpPr>
          <p:cNvPr id="24" name="diagram label 61"/>
          <p:cNvSpPr txBox="1"/>
          <p:nvPr/>
        </p:nvSpPr>
        <p:spPr>
          <a:xfrm>
            <a:off x="7555001" y="4297680"/>
            <a:ext cx="1691640" cy="731520"/>
          </a:xfrm>
          <a:prstGeom prst="rect">
            <a:avLst/>
          </a:prstGeom>
          <a:noFill/>
          <a:ln/>
        </p:spPr>
        <p:txBody>
          <a:bodyPr wrap="square" lIns="0" tIns="0" rIns="0" bIns="0" rtlCol="0" anchor="ctr"/>
          <a:lstStyle/>
          <a:p>
            <a:pPr algn="ctr" indent="0" marL="0">
              <a:buNone/>
            </a:pPr>
            <a:r>
              <a:rPr lang="en-US" sz="1400" b="1" dirty="0">
                <a:solidFill>
                  <a:srgbClr val="7F1D1D"/>
                </a:solidFill>
              </a:rPr>
              <a:t>403</a:t>
            </a:r>
            <a:endParaRPr lang="en-US" sz="1400" dirty="0"/>
          </a:p>
          <a:p>
            <a:pPr algn="ctr" indent="0" marL="0">
              <a:buNone/>
            </a:pPr>
            <a:r>
              <a:rPr lang="en-US" sz="1400" b="1" dirty="0">
                <a:solidFill>
                  <a:srgbClr val="7F1D1D"/>
                </a:solidFill>
              </a:rPr>
              <a:t>Access denied</a:t>
            </a:r>
            <a:endParaRPr lang="en-US" sz="1400" dirty="0"/>
          </a:p>
        </p:txBody>
      </p:sp>
      <p:sp>
        <p:nvSpPr>
          <p:cNvPr id="25" name="diagram arrow 62"/>
          <p:cNvSpPr/>
          <p:nvPr/>
        </p:nvSpPr>
        <p:spPr>
          <a:xfrm>
            <a:off x="8400821" y="3474720"/>
            <a:ext cx="914" cy="822960"/>
          </a:xfrm>
          <a:prstGeom prst="line">
            <a:avLst/>
          </a:prstGeom>
          <a:noFill/>
          <a:ln w="22225">
            <a:solidFill>
              <a:srgbClr val="64748B"/>
            </a:solidFill>
            <a:prstDash val="solid"/>
            <a:tailEnd type="triangle"/>
          </a:ln>
        </p:spPr>
      </p:sp>
      <p:sp>
        <p:nvSpPr>
          <p:cNvPr id="26" name="diagram note 63"/>
          <p:cNvSpPr txBox="1"/>
          <p:nvPr/>
        </p:nvSpPr>
        <p:spPr>
          <a:xfrm>
            <a:off x="8473973" y="3547872"/>
            <a:ext cx="457200" cy="292608"/>
          </a:xfrm>
          <a:prstGeom prst="rect">
            <a:avLst/>
          </a:prstGeom>
          <a:noFill/>
          <a:ln/>
        </p:spPr>
        <p:txBody>
          <a:bodyPr wrap="square" lIns="0" tIns="0" rIns="0" bIns="0" rtlCol="0" anchor="ctr"/>
          <a:lstStyle/>
          <a:p>
            <a:pPr algn="l" indent="0" marL="0">
              <a:buNone/>
            </a:pPr>
            <a:r>
              <a:rPr lang="en-US" sz="1200" b="1" dirty="0">
                <a:solidFill>
                  <a:srgbClr val="B91C1C"/>
                </a:solidFill>
              </a:rPr>
              <a:t>No</a:t>
            </a:r>
            <a:endParaRPr lang="en-US" sz="1200" dirty="0"/>
          </a:p>
        </p:txBody>
      </p:sp>
      <p:sp>
        <p:nvSpPr>
          <p:cNvPr id="27" name="diagram arrow 64"/>
          <p:cNvSpPr/>
          <p:nvPr/>
        </p:nvSpPr>
        <p:spPr>
          <a:xfrm>
            <a:off x="6095848" y="3291840"/>
            <a:ext cx="914" cy="822960"/>
          </a:xfrm>
          <a:prstGeom prst="line">
            <a:avLst/>
          </a:prstGeom>
          <a:noFill/>
          <a:ln w="22225">
            <a:solidFill>
              <a:srgbClr val="64748B"/>
            </a:solidFill>
            <a:prstDash val="dash"/>
          </a:ln>
        </p:spPr>
      </p:sp>
      <p:sp>
        <p:nvSpPr>
          <p:cNvPr id="28" name="filter pill 1"/>
          <p:cNvSpPr/>
          <p:nvPr/>
        </p:nvSpPr>
        <p:spPr>
          <a:xfrm>
            <a:off x="4838548" y="4114800"/>
            <a:ext cx="2514600" cy="402336"/>
          </a:xfrm>
          <a:prstGeom prst="roundRect">
            <a:avLst>
              <a:gd name="adj" fmla="val 50000"/>
            </a:avLst>
          </a:prstGeom>
          <a:solidFill>
            <a:srgbClr val="4F46E5"/>
          </a:solidFill>
          <a:ln w="12700">
            <a:solidFill>
              <a:srgbClr val="4F46E5"/>
            </a:solidFill>
            <a:prstDash val="solid"/>
          </a:ln>
        </p:spPr>
      </p:sp>
      <p:sp>
        <p:nvSpPr>
          <p:cNvPr id="29" name="filter pill 1 text"/>
          <p:cNvSpPr txBox="1"/>
          <p:nvPr/>
        </p:nvSpPr>
        <p:spPr>
          <a:xfrm>
            <a:off x="4838548" y="4114800"/>
            <a:ext cx="2514600" cy="402336"/>
          </a:xfrm>
          <a:prstGeom prst="rect">
            <a:avLst/>
          </a:prstGeom>
          <a:noFill/>
          <a:ln/>
        </p:spPr>
        <p:txBody>
          <a:bodyPr wrap="square" lIns="0" tIns="0" rIns="0" bIns="0" rtlCol="0" anchor="ctr"/>
          <a:lstStyle/>
          <a:p>
            <a:pPr algn="ctr" indent="0" marL="0">
              <a:buNone/>
            </a:pPr>
            <a:r>
              <a:rPr lang="en-US" sz="1300" b="1" dirty="0">
                <a:solidFill>
                  <a:srgbClr val="FFFFFF"/>
                </a:solidFill>
              </a:rPr>
              <a:t>Admin: all</a:t>
            </a:r>
            <a:endParaRPr lang="en-US" sz="1300" dirty="0"/>
          </a:p>
        </p:txBody>
      </p:sp>
      <p:sp>
        <p:nvSpPr>
          <p:cNvPr id="30" name="filter pill 2"/>
          <p:cNvSpPr/>
          <p:nvPr/>
        </p:nvSpPr>
        <p:spPr>
          <a:xfrm>
            <a:off x="4838548" y="4617720"/>
            <a:ext cx="2514600" cy="402336"/>
          </a:xfrm>
          <a:prstGeom prst="roundRect">
            <a:avLst>
              <a:gd name="adj" fmla="val 50000"/>
            </a:avLst>
          </a:prstGeom>
          <a:solidFill>
            <a:srgbClr val="0D9488"/>
          </a:solidFill>
          <a:ln w="12700">
            <a:solidFill>
              <a:srgbClr val="0D9488"/>
            </a:solidFill>
            <a:prstDash val="solid"/>
          </a:ln>
        </p:spPr>
      </p:sp>
      <p:sp>
        <p:nvSpPr>
          <p:cNvPr id="31" name="filter pill 2 text"/>
          <p:cNvSpPr txBox="1"/>
          <p:nvPr/>
        </p:nvSpPr>
        <p:spPr>
          <a:xfrm>
            <a:off x="4838548" y="4617720"/>
            <a:ext cx="2514600" cy="402336"/>
          </a:xfrm>
          <a:prstGeom prst="rect">
            <a:avLst/>
          </a:prstGeom>
          <a:noFill/>
          <a:ln/>
        </p:spPr>
        <p:txBody>
          <a:bodyPr wrap="square" lIns="0" tIns="0" rIns="0" bIns="0" rtlCol="0" anchor="ctr"/>
          <a:lstStyle/>
          <a:p>
            <a:pPr algn="ctr" indent="0" marL="0">
              <a:buNone/>
            </a:pPr>
            <a:r>
              <a:rPr lang="en-US" sz="1300" b="1" dirty="0">
                <a:solidFill>
                  <a:srgbClr val="FFFFFF"/>
                </a:solidFill>
              </a:rPr>
              <a:t>Manager: managerId = me</a:t>
            </a:r>
            <a:endParaRPr lang="en-US" sz="1300" dirty="0"/>
          </a:p>
        </p:txBody>
      </p:sp>
      <p:sp>
        <p:nvSpPr>
          <p:cNvPr id="32" name="filter pill 3"/>
          <p:cNvSpPr/>
          <p:nvPr/>
        </p:nvSpPr>
        <p:spPr>
          <a:xfrm>
            <a:off x="4838548" y="5120640"/>
            <a:ext cx="2514600" cy="402336"/>
          </a:xfrm>
          <a:prstGeom prst="roundRect">
            <a:avLst>
              <a:gd name="adj" fmla="val 50000"/>
            </a:avLst>
          </a:prstGeom>
          <a:solidFill>
            <a:srgbClr val="D97706"/>
          </a:solidFill>
          <a:ln w="12700">
            <a:solidFill>
              <a:srgbClr val="D97706"/>
            </a:solidFill>
            <a:prstDash val="solid"/>
          </a:ln>
        </p:spPr>
      </p:sp>
      <p:sp>
        <p:nvSpPr>
          <p:cNvPr id="33" name="filter pill 3 text"/>
          <p:cNvSpPr txBox="1"/>
          <p:nvPr/>
        </p:nvSpPr>
        <p:spPr>
          <a:xfrm>
            <a:off x="4838548" y="5120640"/>
            <a:ext cx="2514600" cy="402336"/>
          </a:xfrm>
          <a:prstGeom prst="rect">
            <a:avLst/>
          </a:prstGeom>
          <a:noFill/>
          <a:ln/>
        </p:spPr>
        <p:txBody>
          <a:bodyPr wrap="square" lIns="0" tIns="0" rIns="0" bIns="0" rtlCol="0" anchor="ctr"/>
          <a:lstStyle/>
          <a:p>
            <a:pPr algn="ctr" indent="0" marL="0">
              <a:buNone/>
            </a:pPr>
            <a:r>
              <a:rPr lang="en-US" sz="1300" b="1" dirty="0">
                <a:solidFill>
                  <a:srgbClr val="FFFFFF"/>
                </a:solidFill>
              </a:rPr>
              <a:t>Agent: assigneeId = me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Data model</a:t>
            </a:r>
            <a:endParaRPr lang="en-US" sz="3400" dirty="0"/>
          </a:p>
        </p:txBody>
      </p:sp>
      <p:sp>
        <p:nvSpPr>
          <p:cNvPr id="3" name="entity User"/>
          <p:cNvSpPr/>
          <p:nvPr/>
        </p:nvSpPr>
        <p:spPr>
          <a:xfrm>
            <a:off x="548640" y="1417320"/>
            <a:ext cx="2743200" cy="2148840"/>
          </a:xfrm>
          <a:prstGeom prst="roundRect">
            <a:avLst>
              <a:gd name="adj" fmla="val 3404"/>
            </a:avLst>
          </a:prstGeom>
          <a:solidFill>
            <a:srgbClr val="FFFFFF"/>
          </a:solidFill>
          <a:ln w="19050">
            <a:solidFill>
              <a:srgbClr val="4F46E5"/>
            </a:solidFill>
            <a:prstDash val="solid"/>
          </a:ln>
          <a:effectLst>
            <a:outerShdw sx="100000" sy="100000" kx="0" ky="0" algn="bl" rotWithShape="0" blurRad="101600" dist="25400" dir="5400000">
              <a:srgbClr val="0F172A">
                <a:alpha val="12000"/>
              </a:srgbClr>
            </a:outerShdw>
          </a:effectLst>
        </p:spPr>
      </p:sp>
      <p:sp>
        <p:nvSpPr>
          <p:cNvPr id="4" name="entity User header"/>
          <p:cNvSpPr/>
          <p:nvPr/>
        </p:nvSpPr>
        <p:spPr>
          <a:xfrm>
            <a:off x="548640" y="1417320"/>
            <a:ext cx="2743200" cy="457200"/>
          </a:xfrm>
          <a:prstGeom prst="roundRect">
            <a:avLst>
              <a:gd name="adj" fmla="val 16000"/>
            </a:avLst>
          </a:prstGeom>
          <a:solidFill>
            <a:srgbClr val="4F46E5"/>
          </a:solidFill>
          <a:ln w="12700">
            <a:solidFill>
              <a:srgbClr val="4F46E5"/>
            </a:solidFill>
            <a:prstDash val="solid"/>
          </a:ln>
        </p:spPr>
      </p:sp>
      <p:sp>
        <p:nvSpPr>
          <p:cNvPr id="5" name="entity User title"/>
          <p:cNvSpPr txBox="1"/>
          <p:nvPr/>
        </p:nvSpPr>
        <p:spPr>
          <a:xfrm>
            <a:off x="548640" y="1417320"/>
            <a:ext cx="2743200" cy="457200"/>
          </a:xfrm>
          <a:prstGeom prst="rect">
            <a:avLst/>
          </a:prstGeom>
          <a:noFill/>
          <a:ln/>
        </p:spPr>
        <p:txBody>
          <a:bodyPr wrap="square" lIns="0" tIns="0" rIns="0" bIns="0" rtlCol="0" anchor="ctr"/>
          <a:lstStyle/>
          <a:p>
            <a:pPr algn="ctr" indent="0" marL="0">
              <a:buNone/>
            </a:pPr>
            <a:r>
              <a:rPr lang="en-US" sz="1600" b="1" dirty="0">
                <a:solidFill>
                  <a:srgbClr val="FFFFFF"/>
                </a:solidFill>
              </a:rPr>
              <a:t>User</a:t>
            </a:r>
            <a:endParaRPr lang="en-US" sz="1600" dirty="0"/>
          </a:p>
        </p:txBody>
      </p:sp>
      <p:sp>
        <p:nvSpPr>
          <p:cNvPr id="6" name="entity User fields"/>
          <p:cNvSpPr txBox="1"/>
          <p:nvPr/>
        </p:nvSpPr>
        <p:spPr>
          <a:xfrm>
            <a:off x="731520" y="1965960"/>
            <a:ext cx="2377440" cy="1508760"/>
          </a:xfrm>
          <a:prstGeom prst="rect">
            <a:avLst/>
          </a:prstGeom>
          <a:noFill/>
          <a:ln/>
        </p:spPr>
        <p:txBody>
          <a:bodyPr wrap="square" lIns="0" tIns="0" rIns="0" bIns="0" rtlCol="0" anchor="t"/>
          <a:lstStyle/>
          <a:p>
            <a:pPr indent="0" marL="0">
              <a:spcAft>
                <a:spcPts val="200"/>
              </a:spcAft>
              <a:buNone/>
            </a:pPr>
            <a:r>
              <a:rPr lang="en-US" sz="1300" dirty="0">
                <a:solidFill>
                  <a:srgbClr val="334155"/>
                </a:solidFill>
              </a:rPr>
              <a:t>id: ADMIN · PM01 · DEV01</a:t>
            </a:r>
            <a:endParaRPr lang="en-US" sz="1300" dirty="0"/>
          </a:p>
          <a:p>
            <a:pPr indent="0" marL="0">
              <a:spcAft>
                <a:spcPts val="200"/>
              </a:spcAft>
              <a:buNone/>
            </a:pPr>
            <a:r>
              <a:rPr lang="en-US" sz="1300" dirty="0">
                <a:solidFill>
                  <a:srgbClr val="334155"/>
                </a:solidFill>
              </a:rPr>
              <a:t>email (unique)</a:t>
            </a:r>
            <a:endParaRPr lang="en-US" sz="1300" dirty="0"/>
          </a:p>
          <a:p>
            <a:pPr indent="0" marL="0">
              <a:spcAft>
                <a:spcPts val="200"/>
              </a:spcAft>
              <a:buNone/>
            </a:pPr>
            <a:r>
              <a:rPr lang="en-US" sz="1300" dirty="0">
                <a:solidFill>
                  <a:srgbClr val="334155"/>
                </a:solidFill>
              </a:rPr>
              <a:t>passwordHash</a:t>
            </a:r>
            <a:endParaRPr lang="en-US" sz="1300" dirty="0"/>
          </a:p>
          <a:p>
            <a:pPr indent="0" marL="0">
              <a:spcAft>
                <a:spcPts val="200"/>
              </a:spcAft>
              <a:buNone/>
            </a:pPr>
            <a:r>
              <a:rPr lang="en-US" sz="1300" dirty="0">
                <a:solidFill>
                  <a:srgbClr val="334155"/>
                </a:solidFill>
              </a:rPr>
              <a:t>role</a:t>
            </a:r>
            <a:endParaRPr lang="en-US" sz="1300" dirty="0"/>
          </a:p>
          <a:p>
            <a:pPr indent="0" marL="0">
              <a:spcAft>
                <a:spcPts val="200"/>
              </a:spcAft>
              <a:buNone/>
            </a:pPr>
            <a:r>
              <a:rPr lang="en-US" sz="1300" dirty="0">
                <a:solidFill>
                  <a:srgbClr val="334155"/>
                </a:solidFill>
              </a:rPr>
              <a:t>skills[]</a:t>
            </a:r>
            <a:endParaRPr lang="en-US" sz="1300" dirty="0"/>
          </a:p>
        </p:txBody>
      </p:sp>
      <p:sp>
        <p:nvSpPr>
          <p:cNvPr id="7" name="entity Project"/>
          <p:cNvSpPr/>
          <p:nvPr/>
        </p:nvSpPr>
        <p:spPr>
          <a:xfrm>
            <a:off x="4727448" y="1417320"/>
            <a:ext cx="2743200" cy="2148840"/>
          </a:xfrm>
          <a:prstGeom prst="roundRect">
            <a:avLst>
              <a:gd name="adj" fmla="val 3404"/>
            </a:avLst>
          </a:prstGeom>
          <a:solidFill>
            <a:srgbClr val="FFFFFF"/>
          </a:solidFill>
          <a:ln w="19050">
            <a:solidFill>
              <a:srgbClr val="4F46E5"/>
            </a:solidFill>
            <a:prstDash val="solid"/>
          </a:ln>
          <a:effectLst>
            <a:outerShdw sx="100000" sy="100000" kx="0" ky="0" algn="bl" rotWithShape="0" blurRad="101600" dist="25400" dir="5400000">
              <a:srgbClr val="0F172A">
                <a:alpha val="12000"/>
              </a:srgbClr>
            </a:outerShdw>
          </a:effectLst>
        </p:spPr>
      </p:sp>
      <p:sp>
        <p:nvSpPr>
          <p:cNvPr id="8" name="entity Project header"/>
          <p:cNvSpPr/>
          <p:nvPr/>
        </p:nvSpPr>
        <p:spPr>
          <a:xfrm>
            <a:off x="4727448" y="1417320"/>
            <a:ext cx="2743200" cy="457200"/>
          </a:xfrm>
          <a:prstGeom prst="roundRect">
            <a:avLst>
              <a:gd name="adj" fmla="val 16000"/>
            </a:avLst>
          </a:prstGeom>
          <a:solidFill>
            <a:srgbClr val="4F46E5"/>
          </a:solidFill>
          <a:ln w="12700">
            <a:solidFill>
              <a:srgbClr val="4F46E5"/>
            </a:solidFill>
            <a:prstDash val="solid"/>
          </a:ln>
        </p:spPr>
      </p:sp>
      <p:sp>
        <p:nvSpPr>
          <p:cNvPr id="9" name="entity Project title"/>
          <p:cNvSpPr txBox="1"/>
          <p:nvPr/>
        </p:nvSpPr>
        <p:spPr>
          <a:xfrm>
            <a:off x="4727448" y="1417320"/>
            <a:ext cx="2743200" cy="457200"/>
          </a:xfrm>
          <a:prstGeom prst="rect">
            <a:avLst/>
          </a:prstGeom>
          <a:noFill/>
          <a:ln/>
        </p:spPr>
        <p:txBody>
          <a:bodyPr wrap="square" lIns="0" tIns="0" rIns="0" bIns="0" rtlCol="0" anchor="ctr"/>
          <a:lstStyle/>
          <a:p>
            <a:pPr algn="ctr" indent="0" marL="0">
              <a:buNone/>
            </a:pPr>
            <a:r>
              <a:rPr lang="en-US" sz="1600" b="1" dirty="0">
                <a:solidFill>
                  <a:srgbClr val="FFFFFF"/>
                </a:solidFill>
              </a:rPr>
              <a:t>Project</a:t>
            </a:r>
            <a:endParaRPr lang="en-US" sz="1600" dirty="0"/>
          </a:p>
        </p:txBody>
      </p:sp>
      <p:sp>
        <p:nvSpPr>
          <p:cNvPr id="10" name="entity Project fields"/>
          <p:cNvSpPr txBox="1"/>
          <p:nvPr/>
        </p:nvSpPr>
        <p:spPr>
          <a:xfrm>
            <a:off x="4910328" y="1965960"/>
            <a:ext cx="2377440" cy="1508760"/>
          </a:xfrm>
          <a:prstGeom prst="rect">
            <a:avLst/>
          </a:prstGeom>
          <a:noFill/>
          <a:ln/>
        </p:spPr>
        <p:txBody>
          <a:bodyPr wrap="square" lIns="0" tIns="0" rIns="0" bIns="0" rtlCol="0" anchor="t"/>
          <a:lstStyle/>
          <a:p>
            <a:pPr indent="0" marL="0">
              <a:spcAft>
                <a:spcPts val="200"/>
              </a:spcAft>
              <a:buNone/>
            </a:pPr>
            <a:r>
              <a:rPr lang="en-US" sz="1300" dirty="0">
                <a:solidFill>
                  <a:srgbClr val="334155"/>
                </a:solidFill>
              </a:rPr>
              <a:t>name · clientName</a:t>
            </a:r>
            <a:endParaRPr lang="en-US" sz="1300" dirty="0"/>
          </a:p>
          <a:p>
            <a:pPr indent="0" marL="0">
              <a:spcAft>
                <a:spcPts val="200"/>
              </a:spcAft>
              <a:buNone/>
            </a:pPr>
            <a:r>
              <a:rPr lang="en-US" sz="1300" dirty="0">
                <a:solidFill>
                  <a:srgbClr val="334155"/>
                </a:solidFill>
              </a:rPr>
              <a:t>managerId → User</a:t>
            </a:r>
            <a:endParaRPr lang="en-US" sz="1300" dirty="0"/>
          </a:p>
          <a:p>
            <a:pPr indent="0" marL="0">
              <a:spcAft>
                <a:spcPts val="200"/>
              </a:spcAft>
              <a:buNone/>
            </a:pPr>
            <a:r>
              <a:rPr lang="en-US" sz="1300" dirty="0">
                <a:solidFill>
                  <a:srgbClr val="334155"/>
                </a:solidFill>
              </a:rPr>
              <a:t>clientId → Client</a:t>
            </a:r>
            <a:endParaRPr lang="en-US" sz="1300" dirty="0"/>
          </a:p>
          <a:p>
            <a:pPr indent="0" marL="0">
              <a:spcAft>
                <a:spcPts val="200"/>
              </a:spcAft>
              <a:buNone/>
            </a:pPr>
            <a:r>
              <a:rPr lang="en-US" sz="1300" dirty="0">
                <a:solidFill>
                  <a:srgbClr val="334155"/>
                </a:solidFill>
              </a:rPr>
              <a:t>deadline</a:t>
            </a:r>
            <a:endParaRPr lang="en-US" sz="1300" dirty="0"/>
          </a:p>
          <a:p>
            <a:pPr indent="0" marL="0">
              <a:spcAft>
                <a:spcPts val="200"/>
              </a:spcAft>
              <a:buNone/>
            </a:pPr>
            <a:r>
              <a:rPr lang="en-US" sz="1300" dirty="0">
                <a:solidFill>
                  <a:srgbClr val="334155"/>
                </a:solidFill>
              </a:rPr>
              <a:t>transcriptRunId</a:t>
            </a:r>
            <a:endParaRPr lang="en-US" sz="1300" dirty="0"/>
          </a:p>
        </p:txBody>
      </p:sp>
      <p:sp>
        <p:nvSpPr>
          <p:cNvPr id="11" name="entity Client"/>
          <p:cNvSpPr/>
          <p:nvPr/>
        </p:nvSpPr>
        <p:spPr>
          <a:xfrm>
            <a:off x="8899855" y="1417320"/>
            <a:ext cx="2743200" cy="2148840"/>
          </a:xfrm>
          <a:prstGeom prst="roundRect">
            <a:avLst>
              <a:gd name="adj" fmla="val 3404"/>
            </a:avLst>
          </a:prstGeom>
          <a:solidFill>
            <a:srgbClr val="FFFFFF"/>
          </a:solidFill>
          <a:ln w="19050">
            <a:solidFill>
              <a:srgbClr val="0D9488"/>
            </a:solidFill>
            <a:prstDash val="solid"/>
          </a:ln>
          <a:effectLst>
            <a:outerShdw sx="100000" sy="100000" kx="0" ky="0" algn="bl" rotWithShape="0" blurRad="101600" dist="25400" dir="5400000">
              <a:srgbClr val="0F172A">
                <a:alpha val="12000"/>
              </a:srgbClr>
            </a:outerShdw>
          </a:effectLst>
        </p:spPr>
      </p:sp>
      <p:sp>
        <p:nvSpPr>
          <p:cNvPr id="12" name="entity Client header"/>
          <p:cNvSpPr/>
          <p:nvPr/>
        </p:nvSpPr>
        <p:spPr>
          <a:xfrm>
            <a:off x="8899855" y="1417320"/>
            <a:ext cx="2743200" cy="457200"/>
          </a:xfrm>
          <a:prstGeom prst="roundRect">
            <a:avLst>
              <a:gd name="adj" fmla="val 16000"/>
            </a:avLst>
          </a:prstGeom>
          <a:solidFill>
            <a:srgbClr val="0D9488"/>
          </a:solidFill>
          <a:ln w="12700">
            <a:solidFill>
              <a:srgbClr val="0D9488"/>
            </a:solidFill>
            <a:prstDash val="solid"/>
          </a:ln>
        </p:spPr>
      </p:sp>
      <p:sp>
        <p:nvSpPr>
          <p:cNvPr id="13" name="entity Client title"/>
          <p:cNvSpPr txBox="1"/>
          <p:nvPr/>
        </p:nvSpPr>
        <p:spPr>
          <a:xfrm>
            <a:off x="8899855" y="1417320"/>
            <a:ext cx="2743200" cy="457200"/>
          </a:xfrm>
          <a:prstGeom prst="rect">
            <a:avLst/>
          </a:prstGeom>
          <a:noFill/>
          <a:ln/>
        </p:spPr>
        <p:txBody>
          <a:bodyPr wrap="square" lIns="0" tIns="0" rIns="0" bIns="0" rtlCol="0" anchor="ctr"/>
          <a:lstStyle/>
          <a:p>
            <a:pPr algn="ctr" indent="0" marL="0">
              <a:buNone/>
            </a:pPr>
            <a:r>
              <a:rPr lang="en-US" sz="1600" b="1" dirty="0">
                <a:solidFill>
                  <a:srgbClr val="FFFFFF"/>
                </a:solidFill>
              </a:rPr>
              <a:t>Client</a:t>
            </a:r>
            <a:endParaRPr lang="en-US" sz="1600" dirty="0"/>
          </a:p>
        </p:txBody>
      </p:sp>
      <p:sp>
        <p:nvSpPr>
          <p:cNvPr id="14" name="entity Client fields"/>
          <p:cNvSpPr txBox="1"/>
          <p:nvPr/>
        </p:nvSpPr>
        <p:spPr>
          <a:xfrm>
            <a:off x="9082735" y="1965960"/>
            <a:ext cx="2377440" cy="1508760"/>
          </a:xfrm>
          <a:prstGeom prst="rect">
            <a:avLst/>
          </a:prstGeom>
          <a:noFill/>
          <a:ln/>
        </p:spPr>
        <p:txBody>
          <a:bodyPr wrap="square" lIns="0" tIns="0" rIns="0" bIns="0" rtlCol="0" anchor="t"/>
          <a:lstStyle/>
          <a:p>
            <a:pPr indent="0" marL="0">
              <a:spcAft>
                <a:spcPts val="200"/>
              </a:spcAft>
              <a:buNone/>
            </a:pPr>
            <a:r>
              <a:rPr lang="en-US" sz="1300" dirty="0">
                <a:solidFill>
                  <a:srgbClr val="334155"/>
                </a:solidFill>
              </a:rPr>
              <a:t>name (unique)</a:t>
            </a:r>
            <a:endParaRPr lang="en-US" sz="1300" dirty="0"/>
          </a:p>
          <a:p>
            <a:pPr indent="0" marL="0">
              <a:spcAft>
                <a:spcPts val="200"/>
              </a:spcAft>
              <a:buNone/>
            </a:pPr>
            <a:r>
              <a:rPr lang="en-US" sz="1300" dirty="0">
                <a:solidFill>
                  <a:srgbClr val="334155"/>
                </a:solidFill>
              </a:rPr>
              <a:t>industry</a:t>
            </a:r>
            <a:endParaRPr lang="en-US" sz="1300" dirty="0"/>
          </a:p>
          <a:p>
            <a:pPr indent="0" marL="0">
              <a:spcAft>
                <a:spcPts val="200"/>
              </a:spcAft>
              <a:buNone/>
            </a:pPr>
            <a:r>
              <a:rPr lang="en-US" sz="1300" dirty="0">
                <a:solidFill>
                  <a:srgbClr val="334155"/>
                </a:solidFill>
              </a:rPr>
              <a:t>contact name / email</a:t>
            </a:r>
            <a:endParaRPr lang="en-US" sz="1300" dirty="0"/>
          </a:p>
          <a:p>
            <a:pPr indent="0" marL="0">
              <a:spcAft>
                <a:spcPts val="200"/>
              </a:spcAft>
              <a:buNone/>
            </a:pPr>
            <a:r>
              <a:rPr lang="en-US" sz="1300" dirty="0">
                <a:solidFill>
                  <a:srgbClr val="334155"/>
                </a:solidFill>
              </a:rPr>
              <a:t>phone · website</a:t>
            </a:r>
            <a:endParaRPr lang="en-US" sz="1300" dirty="0"/>
          </a:p>
          <a:p>
            <a:pPr indent="0" marL="0">
              <a:spcAft>
                <a:spcPts val="200"/>
              </a:spcAft>
              <a:buNone/>
            </a:pPr>
            <a:r>
              <a:rPr lang="en-US" sz="1300" dirty="0">
                <a:solidFill>
                  <a:srgbClr val="334155"/>
                </a:solidFill>
              </a:rPr>
              <a:t>notes</a:t>
            </a:r>
            <a:endParaRPr lang="en-US" sz="1300" dirty="0"/>
          </a:p>
        </p:txBody>
      </p:sp>
      <p:sp>
        <p:nvSpPr>
          <p:cNvPr id="15" name="entity Task"/>
          <p:cNvSpPr/>
          <p:nvPr/>
        </p:nvSpPr>
        <p:spPr>
          <a:xfrm>
            <a:off x="4727448" y="4160520"/>
            <a:ext cx="2743200" cy="1874520"/>
          </a:xfrm>
          <a:prstGeom prst="roundRect">
            <a:avLst>
              <a:gd name="adj" fmla="val 3902"/>
            </a:avLst>
          </a:prstGeom>
          <a:solidFill>
            <a:srgbClr val="FFFFFF"/>
          </a:solidFill>
          <a:ln w="19050">
            <a:solidFill>
              <a:srgbClr val="D97706"/>
            </a:solidFill>
            <a:prstDash val="solid"/>
          </a:ln>
          <a:effectLst>
            <a:outerShdw sx="100000" sy="100000" kx="0" ky="0" algn="bl" rotWithShape="0" blurRad="101600" dist="25400" dir="5400000">
              <a:srgbClr val="0F172A">
                <a:alpha val="12000"/>
              </a:srgbClr>
            </a:outerShdw>
          </a:effectLst>
        </p:spPr>
      </p:sp>
      <p:sp>
        <p:nvSpPr>
          <p:cNvPr id="16" name="entity Task header"/>
          <p:cNvSpPr/>
          <p:nvPr/>
        </p:nvSpPr>
        <p:spPr>
          <a:xfrm>
            <a:off x="4727448" y="4160520"/>
            <a:ext cx="2743200" cy="457200"/>
          </a:xfrm>
          <a:prstGeom prst="roundRect">
            <a:avLst>
              <a:gd name="adj" fmla="val 16000"/>
            </a:avLst>
          </a:prstGeom>
          <a:solidFill>
            <a:srgbClr val="D97706"/>
          </a:solidFill>
          <a:ln w="12700">
            <a:solidFill>
              <a:srgbClr val="D97706"/>
            </a:solidFill>
            <a:prstDash val="solid"/>
          </a:ln>
        </p:spPr>
      </p:sp>
      <p:sp>
        <p:nvSpPr>
          <p:cNvPr id="17" name="entity Task title"/>
          <p:cNvSpPr txBox="1"/>
          <p:nvPr/>
        </p:nvSpPr>
        <p:spPr>
          <a:xfrm>
            <a:off x="4727448" y="4160520"/>
            <a:ext cx="2743200" cy="457200"/>
          </a:xfrm>
          <a:prstGeom prst="rect">
            <a:avLst/>
          </a:prstGeom>
          <a:noFill/>
          <a:ln/>
        </p:spPr>
        <p:txBody>
          <a:bodyPr wrap="square" lIns="0" tIns="0" rIns="0" bIns="0" rtlCol="0" anchor="ctr"/>
          <a:lstStyle/>
          <a:p>
            <a:pPr algn="ctr" indent="0" marL="0">
              <a:buNone/>
            </a:pPr>
            <a:r>
              <a:rPr lang="en-US" sz="1600" b="1" dirty="0">
                <a:solidFill>
                  <a:srgbClr val="FFFFFF"/>
                </a:solidFill>
              </a:rPr>
              <a:t>Task</a:t>
            </a:r>
            <a:endParaRPr lang="en-US" sz="1600" dirty="0"/>
          </a:p>
        </p:txBody>
      </p:sp>
      <p:sp>
        <p:nvSpPr>
          <p:cNvPr id="18" name="entity Task fields"/>
          <p:cNvSpPr txBox="1"/>
          <p:nvPr/>
        </p:nvSpPr>
        <p:spPr>
          <a:xfrm>
            <a:off x="4910328" y="4709160"/>
            <a:ext cx="2377440" cy="1234440"/>
          </a:xfrm>
          <a:prstGeom prst="rect">
            <a:avLst/>
          </a:prstGeom>
          <a:noFill/>
          <a:ln/>
        </p:spPr>
        <p:txBody>
          <a:bodyPr wrap="square" lIns="0" tIns="0" rIns="0" bIns="0" rtlCol="0" anchor="t"/>
          <a:lstStyle/>
          <a:p>
            <a:pPr indent="0" marL="0">
              <a:spcAft>
                <a:spcPts val="200"/>
              </a:spcAft>
              <a:buNone/>
            </a:pPr>
            <a:r>
              <a:rPr lang="en-US" sz="1300" dirty="0">
                <a:solidFill>
                  <a:srgbClr val="334155"/>
                </a:solidFill>
              </a:rPr>
              <a:t>projectId → Project</a:t>
            </a:r>
            <a:endParaRPr lang="en-US" sz="1300" dirty="0"/>
          </a:p>
          <a:p>
            <a:pPr indent="0" marL="0">
              <a:spcAft>
                <a:spcPts val="200"/>
              </a:spcAft>
              <a:buNone/>
            </a:pPr>
            <a:r>
              <a:rPr lang="en-US" sz="1300" dirty="0">
                <a:solidFill>
                  <a:srgbClr val="334155"/>
                </a:solidFill>
              </a:rPr>
              <a:t>assigneeId → User</a:t>
            </a:r>
            <a:endParaRPr lang="en-US" sz="1300" dirty="0"/>
          </a:p>
          <a:p>
            <a:pPr indent="0" marL="0">
              <a:spcAft>
                <a:spcPts val="200"/>
              </a:spcAft>
              <a:buNone/>
            </a:pPr>
            <a:r>
              <a:rPr lang="en-US" sz="1300" dirty="0">
                <a:solidFill>
                  <a:srgbClr val="334155"/>
                </a:solidFill>
              </a:rPr>
              <a:t>deadline</a:t>
            </a:r>
            <a:endParaRPr lang="en-US" sz="1300" dirty="0"/>
          </a:p>
          <a:p>
            <a:pPr indent="0" marL="0">
              <a:spcAft>
                <a:spcPts val="200"/>
              </a:spcAft>
              <a:buNone/>
            </a:pPr>
            <a:r>
              <a:rPr lang="en-US" sz="1300" dirty="0">
                <a:solidFill>
                  <a:srgbClr val="334155"/>
                </a:solidFill>
              </a:rPr>
              <a:t>estimatedHours</a:t>
            </a:r>
            <a:endParaRPr lang="en-US" sz="1300" dirty="0"/>
          </a:p>
        </p:txBody>
      </p:sp>
      <p:sp>
        <p:nvSpPr>
          <p:cNvPr id="19" name="entity TranscriptRun"/>
          <p:cNvSpPr/>
          <p:nvPr/>
        </p:nvSpPr>
        <p:spPr>
          <a:xfrm>
            <a:off x="8899855" y="4160520"/>
            <a:ext cx="2743200" cy="1874520"/>
          </a:xfrm>
          <a:prstGeom prst="roundRect">
            <a:avLst>
              <a:gd name="adj" fmla="val 3902"/>
            </a:avLst>
          </a:prstGeom>
          <a:solidFill>
            <a:srgbClr val="FFFFFF"/>
          </a:solidFill>
          <a:ln w="19050">
            <a:solidFill>
              <a:srgbClr val="64748B"/>
            </a:solidFill>
            <a:prstDash val="solid"/>
          </a:ln>
          <a:effectLst>
            <a:outerShdw sx="100000" sy="100000" kx="0" ky="0" algn="bl" rotWithShape="0" blurRad="101600" dist="25400" dir="5400000">
              <a:srgbClr val="0F172A">
                <a:alpha val="12000"/>
              </a:srgbClr>
            </a:outerShdw>
          </a:effectLst>
        </p:spPr>
      </p:sp>
      <p:sp>
        <p:nvSpPr>
          <p:cNvPr id="20" name="entity TranscriptRun header"/>
          <p:cNvSpPr/>
          <p:nvPr/>
        </p:nvSpPr>
        <p:spPr>
          <a:xfrm>
            <a:off x="8899855" y="4160520"/>
            <a:ext cx="2743200" cy="457200"/>
          </a:xfrm>
          <a:prstGeom prst="roundRect">
            <a:avLst>
              <a:gd name="adj" fmla="val 16000"/>
            </a:avLst>
          </a:prstGeom>
          <a:solidFill>
            <a:srgbClr val="64748B"/>
          </a:solidFill>
          <a:ln w="12700">
            <a:solidFill>
              <a:srgbClr val="64748B"/>
            </a:solidFill>
            <a:prstDash val="solid"/>
          </a:ln>
        </p:spPr>
      </p:sp>
      <p:sp>
        <p:nvSpPr>
          <p:cNvPr id="21" name="entity TranscriptRun title"/>
          <p:cNvSpPr txBox="1"/>
          <p:nvPr/>
        </p:nvSpPr>
        <p:spPr>
          <a:xfrm>
            <a:off x="8899855" y="4160520"/>
            <a:ext cx="2743200" cy="457200"/>
          </a:xfrm>
          <a:prstGeom prst="rect">
            <a:avLst/>
          </a:prstGeom>
          <a:noFill/>
          <a:ln/>
        </p:spPr>
        <p:txBody>
          <a:bodyPr wrap="square" lIns="0" tIns="0" rIns="0" bIns="0" rtlCol="0" anchor="ctr"/>
          <a:lstStyle/>
          <a:p>
            <a:pPr algn="ctr" indent="0" marL="0">
              <a:buNone/>
            </a:pPr>
            <a:r>
              <a:rPr lang="en-US" sz="1600" b="1" dirty="0">
                <a:solidFill>
                  <a:srgbClr val="FFFFFF"/>
                </a:solidFill>
              </a:rPr>
              <a:t>TranscriptRun</a:t>
            </a:r>
            <a:endParaRPr lang="en-US" sz="1600" dirty="0"/>
          </a:p>
        </p:txBody>
      </p:sp>
      <p:sp>
        <p:nvSpPr>
          <p:cNvPr id="22" name="entity TranscriptRun fields"/>
          <p:cNvSpPr txBox="1"/>
          <p:nvPr/>
        </p:nvSpPr>
        <p:spPr>
          <a:xfrm>
            <a:off x="9082735" y="4709160"/>
            <a:ext cx="2377440" cy="1234440"/>
          </a:xfrm>
          <a:prstGeom prst="rect">
            <a:avLst/>
          </a:prstGeom>
          <a:noFill/>
          <a:ln/>
        </p:spPr>
        <p:txBody>
          <a:bodyPr wrap="square" lIns="0" tIns="0" rIns="0" bIns="0" rtlCol="0" anchor="t"/>
          <a:lstStyle/>
          <a:p>
            <a:pPr indent="0" marL="0">
              <a:spcAft>
                <a:spcPts val="200"/>
              </a:spcAft>
              <a:buNone/>
            </a:pPr>
            <a:r>
              <a:rPr lang="en-US" sz="1300" dirty="0">
                <a:solidFill>
                  <a:srgbClr val="334155"/>
                </a:solidFill>
              </a:rPr>
              <a:t>transcript · aiOutput</a:t>
            </a:r>
            <a:endParaRPr lang="en-US" sz="1300" dirty="0"/>
          </a:p>
          <a:p>
            <a:pPr indent="0" marL="0">
              <a:spcAft>
                <a:spcPts val="200"/>
              </a:spcAft>
              <a:buNone/>
            </a:pPr>
            <a:r>
              <a:rPr lang="en-US" sz="1300" dirty="0">
                <a:solidFill>
                  <a:srgbClr val="334155"/>
                </a:solidFill>
              </a:rPr>
              <a:t>model · status</a:t>
            </a:r>
            <a:endParaRPr lang="en-US" sz="1300" dirty="0"/>
          </a:p>
          <a:p>
            <a:pPr indent="0" marL="0">
              <a:spcAft>
                <a:spcPts val="200"/>
              </a:spcAft>
              <a:buNone/>
            </a:pPr>
            <a:r>
              <a:rPr lang="en-US" sz="1300" dirty="0">
                <a:solidFill>
                  <a:srgbClr val="334155"/>
                </a:solidFill>
              </a:rPr>
              <a:t>issues[]</a:t>
            </a:r>
            <a:endParaRPr lang="en-US" sz="1300" dirty="0"/>
          </a:p>
        </p:txBody>
      </p:sp>
      <p:sp>
        <p:nvSpPr>
          <p:cNvPr id="23" name="diagram arrow 65"/>
          <p:cNvSpPr/>
          <p:nvPr/>
        </p:nvSpPr>
        <p:spPr>
          <a:xfrm>
            <a:off x="3291840" y="2194560"/>
            <a:ext cx="1435608" cy="914"/>
          </a:xfrm>
          <a:prstGeom prst="line">
            <a:avLst/>
          </a:prstGeom>
          <a:noFill/>
          <a:ln w="22225">
            <a:solidFill>
              <a:srgbClr val="64748B"/>
            </a:solidFill>
            <a:prstDash val="solid"/>
            <a:tailEnd type="triangle"/>
          </a:ln>
        </p:spPr>
      </p:sp>
      <p:sp>
        <p:nvSpPr>
          <p:cNvPr id="24" name="diagram note 66"/>
          <p:cNvSpPr txBox="1"/>
          <p:nvPr/>
        </p:nvSpPr>
        <p:spPr>
          <a:xfrm>
            <a:off x="3291840" y="1874520"/>
            <a:ext cx="1435608" cy="292608"/>
          </a:xfrm>
          <a:prstGeom prst="rect">
            <a:avLst/>
          </a:prstGeom>
          <a:noFill/>
          <a:ln/>
        </p:spPr>
        <p:txBody>
          <a:bodyPr wrap="square" lIns="0" tIns="0" rIns="0" bIns="0" rtlCol="0" anchor="ctr"/>
          <a:lstStyle/>
          <a:p>
            <a:pPr algn="ctr" indent="0" marL="0">
              <a:buNone/>
            </a:pPr>
            <a:r>
              <a:rPr lang="en-US" sz="1200" dirty="0">
                <a:solidFill>
                  <a:srgbClr val="475569"/>
                </a:solidFill>
              </a:rPr>
              <a:t>manages 1:n</a:t>
            </a:r>
            <a:endParaRPr lang="en-US" sz="1200" dirty="0"/>
          </a:p>
        </p:txBody>
      </p:sp>
      <p:sp>
        <p:nvSpPr>
          <p:cNvPr id="25" name="diagram arrow 67"/>
          <p:cNvSpPr/>
          <p:nvPr/>
        </p:nvSpPr>
        <p:spPr>
          <a:xfrm flipH="1">
            <a:off x="7470648" y="2194560"/>
            <a:ext cx="1429207" cy="914"/>
          </a:xfrm>
          <a:prstGeom prst="line">
            <a:avLst/>
          </a:prstGeom>
          <a:noFill/>
          <a:ln w="22225">
            <a:solidFill>
              <a:srgbClr val="64748B"/>
            </a:solidFill>
            <a:prstDash val="solid"/>
            <a:tailEnd type="triangle"/>
          </a:ln>
        </p:spPr>
      </p:sp>
      <p:sp>
        <p:nvSpPr>
          <p:cNvPr id="26" name="diagram note 68"/>
          <p:cNvSpPr txBox="1"/>
          <p:nvPr/>
        </p:nvSpPr>
        <p:spPr>
          <a:xfrm>
            <a:off x="7470648" y="1874520"/>
            <a:ext cx="1429207" cy="292608"/>
          </a:xfrm>
          <a:prstGeom prst="rect">
            <a:avLst/>
          </a:prstGeom>
          <a:noFill/>
          <a:ln/>
        </p:spPr>
        <p:txBody>
          <a:bodyPr wrap="square" lIns="0" tIns="0" rIns="0" bIns="0" rtlCol="0" anchor="ctr"/>
          <a:lstStyle/>
          <a:p>
            <a:pPr algn="ctr" indent="0" marL="0">
              <a:buNone/>
            </a:pPr>
            <a:r>
              <a:rPr lang="en-US" sz="1200" dirty="0">
                <a:solidFill>
                  <a:srgbClr val="475569"/>
                </a:solidFill>
              </a:rPr>
              <a:t>has 1:n</a:t>
            </a:r>
            <a:endParaRPr lang="en-US" sz="1200" dirty="0"/>
          </a:p>
        </p:txBody>
      </p:sp>
      <p:sp>
        <p:nvSpPr>
          <p:cNvPr id="27" name="diagram arrow 69"/>
          <p:cNvSpPr/>
          <p:nvPr/>
        </p:nvSpPr>
        <p:spPr>
          <a:xfrm>
            <a:off x="6099048" y="3566160"/>
            <a:ext cx="914" cy="594360"/>
          </a:xfrm>
          <a:prstGeom prst="line">
            <a:avLst/>
          </a:prstGeom>
          <a:noFill/>
          <a:ln w="22225">
            <a:solidFill>
              <a:srgbClr val="64748B"/>
            </a:solidFill>
            <a:prstDash val="solid"/>
            <a:tailEnd type="triangle"/>
          </a:ln>
        </p:spPr>
      </p:sp>
      <p:sp>
        <p:nvSpPr>
          <p:cNvPr id="28" name="diagram note 70"/>
          <p:cNvSpPr txBox="1"/>
          <p:nvPr/>
        </p:nvSpPr>
        <p:spPr>
          <a:xfrm>
            <a:off x="6190488" y="3703320"/>
            <a:ext cx="1280160" cy="292608"/>
          </a:xfrm>
          <a:prstGeom prst="rect">
            <a:avLst/>
          </a:prstGeom>
          <a:noFill/>
          <a:ln/>
        </p:spPr>
        <p:txBody>
          <a:bodyPr wrap="square" lIns="0" tIns="0" rIns="0" bIns="0" rtlCol="0" anchor="ctr"/>
          <a:lstStyle/>
          <a:p>
            <a:pPr algn="l" indent="0" marL="0">
              <a:buNone/>
            </a:pPr>
            <a:r>
              <a:rPr lang="en-US" sz="1200" dirty="0">
                <a:solidFill>
                  <a:srgbClr val="475569"/>
                </a:solidFill>
              </a:rPr>
              <a:t>contains 1:n</a:t>
            </a:r>
            <a:endParaRPr lang="en-US" sz="1200" dirty="0"/>
          </a:p>
        </p:txBody>
      </p:sp>
      <p:sp>
        <p:nvSpPr>
          <p:cNvPr id="29" name="diagram arrow 71"/>
          <p:cNvSpPr/>
          <p:nvPr/>
        </p:nvSpPr>
        <p:spPr>
          <a:xfrm>
            <a:off x="1920240" y="3566160"/>
            <a:ext cx="914" cy="1508760"/>
          </a:xfrm>
          <a:prstGeom prst="line">
            <a:avLst/>
          </a:prstGeom>
          <a:noFill/>
          <a:ln w="22225">
            <a:solidFill>
              <a:srgbClr val="64748B"/>
            </a:solidFill>
            <a:prstDash val="solid"/>
          </a:ln>
        </p:spPr>
      </p:sp>
      <p:sp>
        <p:nvSpPr>
          <p:cNvPr id="30" name="diagram arrow 72"/>
          <p:cNvSpPr/>
          <p:nvPr/>
        </p:nvSpPr>
        <p:spPr>
          <a:xfrm>
            <a:off x="1920240" y="5074920"/>
            <a:ext cx="2807208" cy="914"/>
          </a:xfrm>
          <a:prstGeom prst="line">
            <a:avLst/>
          </a:prstGeom>
          <a:noFill/>
          <a:ln w="22225">
            <a:solidFill>
              <a:srgbClr val="64748B"/>
            </a:solidFill>
            <a:prstDash val="solid"/>
            <a:tailEnd type="triangle"/>
          </a:ln>
        </p:spPr>
      </p:sp>
      <p:sp>
        <p:nvSpPr>
          <p:cNvPr id="31" name="diagram note 73"/>
          <p:cNvSpPr txBox="1"/>
          <p:nvPr/>
        </p:nvSpPr>
        <p:spPr>
          <a:xfrm>
            <a:off x="2011680" y="4754880"/>
            <a:ext cx="2011680" cy="292608"/>
          </a:xfrm>
          <a:prstGeom prst="rect">
            <a:avLst/>
          </a:prstGeom>
          <a:noFill/>
          <a:ln/>
        </p:spPr>
        <p:txBody>
          <a:bodyPr wrap="square" lIns="0" tIns="0" rIns="0" bIns="0" rtlCol="0" anchor="ctr"/>
          <a:lstStyle/>
          <a:p>
            <a:pPr algn="l" indent="0" marL="0">
              <a:buNone/>
            </a:pPr>
            <a:r>
              <a:rPr lang="en-US" sz="1200" dirty="0">
                <a:solidFill>
                  <a:srgbClr val="475569"/>
                </a:solidFill>
              </a:rPr>
              <a:t>assigned 1:n</a:t>
            </a:r>
            <a:endParaRPr lang="en-US" sz="1200" dirty="0"/>
          </a:p>
        </p:txBody>
      </p:sp>
      <p:sp>
        <p:nvSpPr>
          <p:cNvPr id="32" name="diagram arrow 74"/>
          <p:cNvSpPr/>
          <p:nvPr/>
        </p:nvSpPr>
        <p:spPr>
          <a:xfrm flipV="1">
            <a:off x="10271455" y="3840480"/>
            <a:ext cx="914" cy="320040"/>
          </a:xfrm>
          <a:prstGeom prst="line">
            <a:avLst/>
          </a:prstGeom>
          <a:noFill/>
          <a:ln w="22225">
            <a:solidFill>
              <a:srgbClr val="64748B"/>
            </a:solidFill>
            <a:prstDash val="dash"/>
          </a:ln>
        </p:spPr>
      </p:sp>
      <p:sp>
        <p:nvSpPr>
          <p:cNvPr id="33" name="diagram arrow 75"/>
          <p:cNvSpPr/>
          <p:nvPr/>
        </p:nvSpPr>
        <p:spPr>
          <a:xfrm flipH="1">
            <a:off x="7104888" y="3840480"/>
            <a:ext cx="3166567" cy="914"/>
          </a:xfrm>
          <a:prstGeom prst="line">
            <a:avLst/>
          </a:prstGeom>
          <a:noFill/>
          <a:ln w="22225">
            <a:solidFill>
              <a:srgbClr val="64748B"/>
            </a:solidFill>
            <a:prstDash val="dash"/>
          </a:ln>
        </p:spPr>
      </p:sp>
      <p:sp>
        <p:nvSpPr>
          <p:cNvPr id="34" name="diagram arrow 76"/>
          <p:cNvSpPr/>
          <p:nvPr/>
        </p:nvSpPr>
        <p:spPr>
          <a:xfrm flipV="1">
            <a:off x="7104888" y="3566160"/>
            <a:ext cx="914" cy="274320"/>
          </a:xfrm>
          <a:prstGeom prst="line">
            <a:avLst/>
          </a:prstGeom>
          <a:noFill/>
          <a:ln w="22225">
            <a:solidFill>
              <a:srgbClr val="64748B"/>
            </a:solidFill>
            <a:prstDash val="dash"/>
            <a:tailEnd type="triangle"/>
          </a:ln>
        </p:spPr>
      </p:sp>
      <p:sp>
        <p:nvSpPr>
          <p:cNvPr id="35" name="diagram note 77"/>
          <p:cNvSpPr txBox="1"/>
          <p:nvPr/>
        </p:nvSpPr>
        <p:spPr>
          <a:xfrm>
            <a:off x="7635240" y="3584448"/>
            <a:ext cx="1463040" cy="292608"/>
          </a:xfrm>
          <a:prstGeom prst="rect">
            <a:avLst/>
          </a:prstGeom>
          <a:noFill/>
          <a:ln/>
        </p:spPr>
        <p:txBody>
          <a:bodyPr wrap="square" lIns="0" tIns="0" rIns="0" bIns="0" rtlCol="0" anchor="ctr"/>
          <a:lstStyle/>
          <a:p>
            <a:pPr algn="ctr" indent="0" marL="0">
              <a:buNone/>
            </a:pPr>
            <a:r>
              <a:rPr lang="en-US" sz="1200" dirty="0">
                <a:solidFill>
                  <a:srgbClr val="475569"/>
                </a:solidFill>
              </a:rPr>
              <a:t>created 1:n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Why it matters, and what we would build next</a:t>
            </a:r>
            <a:endParaRPr lang="en-US" sz="3400" dirty="0"/>
          </a:p>
        </p:txBody>
      </p:sp>
      <p:sp>
        <p:nvSpPr>
          <p:cNvPr id="3" name="wrap column 1"/>
          <p:cNvSpPr/>
          <p:nvPr/>
        </p:nvSpPr>
        <p:spPr>
          <a:xfrm>
            <a:off x="548640" y="1371600"/>
            <a:ext cx="5364328" cy="3931920"/>
          </a:xfrm>
          <a:prstGeom prst="roundRect">
            <a:avLst>
              <a:gd name="adj" fmla="val 186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4" name="wrap column 1 header"/>
          <p:cNvSpPr/>
          <p:nvPr/>
        </p:nvSpPr>
        <p:spPr>
          <a:xfrm>
            <a:off x="822960" y="1645920"/>
            <a:ext cx="4815688" cy="548640"/>
          </a:xfrm>
          <a:prstGeom prst="roundRect">
            <a:avLst>
              <a:gd name="adj" fmla="val 13333"/>
            </a:avLst>
          </a:prstGeom>
          <a:solidFill>
            <a:schemeClr val="accent2"/>
          </a:solidFill>
          <a:ln w="12700">
            <a:solidFill>
              <a:schemeClr val="accent2"/>
            </a:solidFill>
            <a:prstDash val="solid"/>
          </a:ln>
        </p:spPr>
      </p:sp>
      <p:sp>
        <p:nvSpPr>
          <p:cNvPr id="5" name="wrap column 1 header text"/>
          <p:cNvSpPr txBox="1"/>
          <p:nvPr/>
        </p:nvSpPr>
        <p:spPr>
          <a:xfrm>
            <a:off x="822960" y="1645920"/>
            <a:ext cx="4815688" cy="548640"/>
          </a:xfrm>
          <a:prstGeom prst="rect">
            <a:avLst/>
          </a:prstGeom>
          <a:noFill/>
          <a:ln/>
        </p:spPr>
        <p:txBody>
          <a:bodyPr wrap="square" lIns="0" tIns="0" rIns="0" bIns="0" rtlCol="0" anchor="ctr"/>
          <a:lstStyle/>
          <a:p>
            <a:pPr algn="ctr" indent="0" marL="0">
              <a:buNone/>
            </a:pPr>
            <a:r>
              <a:rPr lang="en-US" sz="1800" b="1" dirty="0">
                <a:solidFill>
                  <a:schemeClr val="bg1"/>
                </a:solidFill>
              </a:rPr>
              <a:t>Why it is useful</a:t>
            </a:r>
            <a:endParaRPr lang="en-US" sz="1800" dirty="0"/>
          </a:p>
        </p:txBody>
      </p:sp>
      <p:sp>
        <p:nvSpPr>
          <p:cNvPr id="6" name="wrap column 1 list"/>
          <p:cNvSpPr txBox="1"/>
          <p:nvPr/>
        </p:nvSpPr>
        <p:spPr>
          <a:xfrm>
            <a:off x="868680" y="2423160"/>
            <a:ext cx="4724248" cy="27432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0F172A"/>
                </a:solidFill>
              </a:rPr>
              <a:t>A whole meeting becomes a plan in about 20 seconds</a:t>
            </a:r>
            <a:endParaRPr lang="en-US" sz="1600" dirty="0"/>
          </a:p>
          <a:p>
            <a:pPr marL="228600" indent="-228600">
              <a:spcAft>
                <a:spcPts val="1000"/>
              </a:spcAft>
              <a:buSzPct val="100000"/>
              <a:buChar char="•"/>
            </a:pPr>
            <a:r>
              <a:rPr lang="en-US" sz="1600" dirty="0">
                <a:solidFill>
                  <a:srgbClr val="0F172A"/>
                </a:solidFill>
              </a:rPr>
              <a:t>Plans follow the final decisions, not the first draft</a:t>
            </a:r>
            <a:endParaRPr lang="en-US" sz="1600" dirty="0"/>
          </a:p>
          <a:p>
            <a:pPr marL="228600" indent="-228600">
              <a:spcAft>
                <a:spcPts val="1000"/>
              </a:spcAft>
              <a:buSzPct val="100000"/>
              <a:buChar char="•"/>
            </a:pPr>
            <a:r>
              <a:rPr lang="en-US" sz="1600" dirty="0">
                <a:solidFill>
                  <a:srgbClr val="0F172A"/>
                </a:solidFill>
              </a:rPr>
              <a:t>Bad AI output never reaches the database</a:t>
            </a:r>
            <a:endParaRPr lang="en-US" sz="1600" dirty="0"/>
          </a:p>
          <a:p>
            <a:pPr marL="228600" indent="-228600">
              <a:spcAft>
                <a:spcPts val="1000"/>
              </a:spcAft>
              <a:buSzPct val="100000"/>
              <a:buChar char="•"/>
            </a:pPr>
            <a:r>
              <a:rPr lang="en-US" sz="1600" dirty="0">
                <a:solidFill>
                  <a:srgbClr val="0F172A"/>
                </a:solidFill>
              </a:rPr>
              <a:t>Each person gets a focused view of their own work</a:t>
            </a:r>
            <a:endParaRPr lang="en-US" sz="1600" dirty="0"/>
          </a:p>
          <a:p>
            <a:pPr marL="228600" indent="-228600">
              <a:spcAft>
                <a:spcPts val="1000"/>
              </a:spcAft>
              <a:buSzPct val="100000"/>
              <a:buChar char="•"/>
            </a:pPr>
            <a:r>
              <a:rPr lang="en-US" sz="1600" dirty="0">
                <a:solidFill>
                  <a:srgbClr val="0F172A"/>
                </a:solidFill>
              </a:rPr>
              <a:t>Client contacts and projects live in one place</a:t>
            </a:r>
            <a:endParaRPr lang="en-US" sz="1600" dirty="0"/>
          </a:p>
        </p:txBody>
      </p:sp>
      <p:sp>
        <p:nvSpPr>
          <p:cNvPr id="7" name="wrap column 2"/>
          <p:cNvSpPr/>
          <p:nvPr/>
        </p:nvSpPr>
        <p:spPr>
          <a:xfrm>
            <a:off x="6278728" y="1371600"/>
            <a:ext cx="5364328" cy="3931920"/>
          </a:xfrm>
          <a:prstGeom prst="roundRect">
            <a:avLst>
              <a:gd name="adj" fmla="val 1860"/>
            </a:avLst>
          </a:prstGeom>
          <a:solidFill>
            <a:schemeClr val="bg1"/>
          </a:solidFill>
          <a:ln w="9525">
            <a:solidFill>
              <a:srgbClr val="E2E8F0"/>
            </a:solidFill>
            <a:prstDash val="solid"/>
          </a:ln>
          <a:effectLst>
            <a:outerShdw sx="100000" sy="100000" kx="0" ky="0" algn="bl" rotWithShape="0" blurRad="101600" dist="25400" dir="5400000">
              <a:srgbClr val="0F172A">
                <a:alpha val="12000"/>
              </a:srgbClr>
            </a:outerShdw>
          </a:effectLst>
        </p:spPr>
      </p:sp>
      <p:sp>
        <p:nvSpPr>
          <p:cNvPr id="8" name="wrap column 2 header"/>
          <p:cNvSpPr/>
          <p:nvPr/>
        </p:nvSpPr>
        <p:spPr>
          <a:xfrm>
            <a:off x="6553048" y="1645920"/>
            <a:ext cx="4815688" cy="548640"/>
          </a:xfrm>
          <a:prstGeom prst="roundRect">
            <a:avLst>
              <a:gd name="adj" fmla="val 13333"/>
            </a:avLst>
          </a:prstGeom>
          <a:solidFill>
            <a:schemeClr val="accent1"/>
          </a:solidFill>
          <a:ln w="12700">
            <a:solidFill>
              <a:schemeClr val="accent1"/>
            </a:solidFill>
            <a:prstDash val="solid"/>
          </a:ln>
        </p:spPr>
      </p:sp>
      <p:sp>
        <p:nvSpPr>
          <p:cNvPr id="9" name="wrap column 2 header text"/>
          <p:cNvSpPr txBox="1"/>
          <p:nvPr/>
        </p:nvSpPr>
        <p:spPr>
          <a:xfrm>
            <a:off x="6553048" y="1645920"/>
            <a:ext cx="4815688" cy="548640"/>
          </a:xfrm>
          <a:prstGeom prst="rect">
            <a:avLst/>
          </a:prstGeom>
          <a:noFill/>
          <a:ln/>
        </p:spPr>
        <p:txBody>
          <a:bodyPr wrap="square" lIns="0" tIns="0" rIns="0" bIns="0" rtlCol="0" anchor="ctr"/>
          <a:lstStyle/>
          <a:p>
            <a:pPr algn="ctr" indent="0" marL="0">
              <a:buNone/>
            </a:pPr>
            <a:r>
              <a:rPr lang="en-US" sz="1800" b="1" dirty="0">
                <a:solidFill>
                  <a:schemeClr val="bg1"/>
                </a:solidFill>
              </a:rPr>
              <a:t>Next, with more time</a:t>
            </a:r>
            <a:endParaRPr lang="en-US" sz="1800" dirty="0"/>
          </a:p>
        </p:txBody>
      </p:sp>
      <p:sp>
        <p:nvSpPr>
          <p:cNvPr id="10" name="wrap column 2 list"/>
          <p:cNvSpPr txBox="1"/>
          <p:nvPr/>
        </p:nvSpPr>
        <p:spPr>
          <a:xfrm>
            <a:off x="6598768" y="2423160"/>
            <a:ext cx="4724248" cy="27432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0F172A"/>
                </a:solidFill>
              </a:rPr>
              <a:t>Review and edit the AI draft before saving</a:t>
            </a:r>
            <a:endParaRPr lang="en-US" sz="1600" dirty="0"/>
          </a:p>
          <a:p>
            <a:pPr marL="228600" indent="-228600">
              <a:spcAft>
                <a:spcPts val="1000"/>
              </a:spcAft>
              <a:buSzPct val="100000"/>
              <a:buChar char="•"/>
            </a:pPr>
            <a:r>
              <a:rPr lang="en-US" sz="1600" dirty="0">
                <a:solidFill>
                  <a:srgbClr val="0F172A"/>
                </a:solidFill>
              </a:rPr>
              <a:t>Task status and deadline reminders</a:t>
            </a:r>
            <a:endParaRPr lang="en-US" sz="1600" dirty="0"/>
          </a:p>
          <a:p>
            <a:pPr marL="228600" indent="-228600">
              <a:spcAft>
                <a:spcPts val="1000"/>
              </a:spcAft>
              <a:buSzPct val="100000"/>
              <a:buChar char="•"/>
            </a:pPr>
            <a:r>
              <a:rPr lang="en-US" sz="1600" dirty="0">
                <a:solidFill>
                  <a:srgbClr val="0F172A"/>
                </a:solidFill>
              </a:rPr>
              <a:t>Upload meeting audio: speech-to-text, same pipeline</a:t>
            </a:r>
            <a:endParaRPr lang="en-US" sz="1600" dirty="0"/>
          </a:p>
          <a:p>
            <a:pPr marL="228600" indent="-228600">
              <a:spcAft>
                <a:spcPts val="1000"/>
              </a:spcAft>
              <a:buSzPct val="100000"/>
              <a:buChar char="•"/>
            </a:pPr>
            <a:r>
              <a:rPr lang="en-US" sz="1600" dirty="0">
                <a:solidFill>
                  <a:srgbClr val="0F172A"/>
                </a:solidFill>
              </a:rPr>
              <a:t>Slack, Google Meet and Jira integrations</a:t>
            </a:r>
            <a:endParaRPr lang="en-US" sz="1600" dirty="0"/>
          </a:p>
          <a:p>
            <a:pPr marL="228600" indent="-228600">
              <a:spcAft>
                <a:spcPts val="1000"/>
              </a:spcAft>
              <a:buSzPct val="100000"/>
              <a:buChar char="•"/>
            </a:pPr>
            <a:r>
              <a:rPr lang="en-US" sz="1600" dirty="0">
                <a:solidFill>
                  <a:srgbClr val="0F172A"/>
                </a:solidFill>
              </a:rPr>
              <a:t>Multi-company SaaS with per-company AI usage</a:t>
            </a:r>
            <a:endParaRPr lang="en-US" sz="1600" dirty="0"/>
          </a:p>
        </p:txBody>
      </p:sp>
      <p:sp>
        <p:nvSpPr>
          <p:cNvPr id="11" name="wrap tagline"/>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1800" i="1" dirty="0">
                <a:solidFill>
                  <a:schemeClr val="accent1"/>
                </a:solidFill>
              </a:rPr>
              <a:t>Everything we showed works today on the live site; the right column is our roadmap.</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1005840"/>
          </a:xfrm>
          <a:prstGeom prst="rect">
            <a:avLst/>
          </a:prstGeom>
          <a:noFill/>
          <a:ln/>
        </p:spPr>
        <p:txBody>
          <a:bodyPr wrap="square" lIns="0" tIns="0" rIns="0" bIns="0" rtlCol="0"/>
          <a:lstStyle/>
          <a:p>
            <a:pPr algn="l" indent="0" marL="0">
              <a:buNone/>
            </a:pPr>
            <a:r>
              <a:rPr lang="en-US" sz="4400" b="1" dirty="0">
                <a:solidFill>
                  <a:schemeClr val="bg1"/>
                </a:solidFill>
              </a:rPr>
              <a:t>Thank you. Let's see it live</a:t>
            </a:r>
            <a:endParaRPr lang="en-US" sz="4400" dirty="0"/>
          </a:p>
        </p:txBody>
      </p:sp>
      <p:sp>
        <p:nvSpPr>
          <p:cNvPr id="3" name="closing Live app label"/>
          <p:cNvSpPr txBox="1"/>
          <p:nvPr/>
        </p:nvSpPr>
        <p:spPr>
          <a:xfrm>
            <a:off x="548640" y="2194560"/>
            <a:ext cx="2011680" cy="548640"/>
          </a:xfrm>
          <a:prstGeom prst="rect">
            <a:avLst/>
          </a:prstGeom>
          <a:noFill/>
          <a:ln/>
        </p:spPr>
        <p:txBody>
          <a:bodyPr wrap="square" lIns="0" tIns="0" rIns="0" bIns="0" rtlCol="0" anchor="ctr"/>
          <a:lstStyle/>
          <a:p>
            <a:pPr indent="0" marL="0">
              <a:buNone/>
            </a:pPr>
            <a:r>
              <a:rPr lang="en-US" sz="1800" dirty="0">
                <a:solidFill>
                  <a:srgbClr val="A5B4FC"/>
                </a:solidFill>
              </a:rPr>
              <a:t>Live app</a:t>
            </a:r>
            <a:endParaRPr lang="en-US" sz="1800" dirty="0"/>
          </a:p>
        </p:txBody>
      </p:sp>
      <p:sp>
        <p:nvSpPr>
          <p:cNvPr id="4" name="closing Live app value"/>
          <p:cNvSpPr txBox="1"/>
          <p:nvPr/>
        </p:nvSpPr>
        <p:spPr>
          <a:xfrm>
            <a:off x="2651760" y="2194560"/>
            <a:ext cx="7772400" cy="548640"/>
          </a:xfrm>
          <a:prstGeom prst="rect">
            <a:avLst/>
          </a:prstGeom>
          <a:noFill/>
          <a:ln/>
        </p:spPr>
        <p:txBody>
          <a:bodyPr wrap="square" lIns="0" tIns="0" rIns="0" bIns="0" rtlCol="0" anchor="ctr"/>
          <a:lstStyle/>
          <a:p>
            <a:pPr indent="0" marL="0">
              <a:buNone/>
            </a:pPr>
            <a:r>
              <a:rPr lang="en-US" sz="2400" b="1" dirty="0">
                <a:solidFill>
                  <a:srgbClr val="FFFFFF"/>
                </a:solidFill>
              </a:rPr>
              <a:t>infinity-hackathon.vercel.app</a:t>
            </a:r>
            <a:endParaRPr lang="en-US" sz="2400" dirty="0"/>
          </a:p>
        </p:txBody>
      </p:sp>
      <p:sp>
        <p:nvSpPr>
          <p:cNvPr id="5" name="closing API docs label"/>
          <p:cNvSpPr txBox="1"/>
          <p:nvPr/>
        </p:nvSpPr>
        <p:spPr>
          <a:xfrm>
            <a:off x="548640" y="2971800"/>
            <a:ext cx="2011680" cy="548640"/>
          </a:xfrm>
          <a:prstGeom prst="rect">
            <a:avLst/>
          </a:prstGeom>
          <a:noFill/>
          <a:ln/>
        </p:spPr>
        <p:txBody>
          <a:bodyPr wrap="square" lIns="0" tIns="0" rIns="0" bIns="0" rtlCol="0" anchor="ctr"/>
          <a:lstStyle/>
          <a:p>
            <a:pPr indent="0" marL="0">
              <a:buNone/>
            </a:pPr>
            <a:r>
              <a:rPr lang="en-US" sz="1800" dirty="0">
                <a:solidFill>
                  <a:srgbClr val="A5B4FC"/>
                </a:solidFill>
              </a:rPr>
              <a:t>API docs</a:t>
            </a:r>
            <a:endParaRPr lang="en-US" sz="1800" dirty="0"/>
          </a:p>
        </p:txBody>
      </p:sp>
      <p:sp>
        <p:nvSpPr>
          <p:cNvPr id="6" name="closing API docs value"/>
          <p:cNvSpPr txBox="1"/>
          <p:nvPr/>
        </p:nvSpPr>
        <p:spPr>
          <a:xfrm>
            <a:off x="2651760" y="2971800"/>
            <a:ext cx="7772400" cy="548640"/>
          </a:xfrm>
          <a:prstGeom prst="rect">
            <a:avLst/>
          </a:prstGeom>
          <a:noFill/>
          <a:ln/>
        </p:spPr>
        <p:txBody>
          <a:bodyPr wrap="square" lIns="0" tIns="0" rIns="0" bIns="0" rtlCol="0" anchor="ctr"/>
          <a:lstStyle/>
          <a:p>
            <a:pPr indent="0" marL="0">
              <a:buNone/>
            </a:pPr>
            <a:r>
              <a:rPr lang="en-US" sz="2400" b="1" dirty="0">
                <a:solidFill>
                  <a:srgbClr val="FFFFFF"/>
                </a:solidFill>
              </a:rPr>
              <a:t>infinity-hackathon.vercel.app/api-docs</a:t>
            </a:r>
            <a:endParaRPr lang="en-US" sz="2400" dirty="0"/>
          </a:p>
        </p:txBody>
      </p:sp>
      <p:sp>
        <p:nvSpPr>
          <p:cNvPr id="7" name="closing Source label"/>
          <p:cNvSpPr txBox="1"/>
          <p:nvPr/>
        </p:nvSpPr>
        <p:spPr>
          <a:xfrm>
            <a:off x="548640" y="3749040"/>
            <a:ext cx="2011680" cy="548640"/>
          </a:xfrm>
          <a:prstGeom prst="rect">
            <a:avLst/>
          </a:prstGeom>
          <a:noFill/>
          <a:ln/>
        </p:spPr>
        <p:txBody>
          <a:bodyPr wrap="square" lIns="0" tIns="0" rIns="0" bIns="0" rtlCol="0" anchor="ctr"/>
          <a:lstStyle/>
          <a:p>
            <a:pPr indent="0" marL="0">
              <a:buNone/>
            </a:pPr>
            <a:r>
              <a:rPr lang="en-US" sz="1800" dirty="0">
                <a:solidFill>
                  <a:srgbClr val="A5B4FC"/>
                </a:solidFill>
              </a:rPr>
              <a:t>Source</a:t>
            </a:r>
            <a:endParaRPr lang="en-US" sz="1800" dirty="0"/>
          </a:p>
        </p:txBody>
      </p:sp>
      <p:sp>
        <p:nvSpPr>
          <p:cNvPr id="8" name="closing Source value"/>
          <p:cNvSpPr txBox="1"/>
          <p:nvPr/>
        </p:nvSpPr>
        <p:spPr>
          <a:xfrm>
            <a:off x="2651760" y="3749040"/>
            <a:ext cx="7772400" cy="548640"/>
          </a:xfrm>
          <a:prstGeom prst="rect">
            <a:avLst/>
          </a:prstGeom>
          <a:noFill/>
          <a:ln/>
        </p:spPr>
        <p:txBody>
          <a:bodyPr wrap="square" lIns="0" tIns="0" rIns="0" bIns="0" rtlCol="0" anchor="ctr"/>
          <a:lstStyle/>
          <a:p>
            <a:pPr indent="0" marL="0">
              <a:buNone/>
            </a:pPr>
            <a:r>
              <a:rPr lang="en-US" sz="2400" b="1" dirty="0">
                <a:solidFill>
                  <a:srgbClr val="FFFFFF"/>
                </a:solidFill>
              </a:rPr>
              <a:t>github.com/Suleman-Saleh/InfinityHackathon</a:t>
            </a:r>
            <a:endParaRPr lang="en-US" sz="2400" dirty="0"/>
          </a:p>
        </p:txBody>
      </p:sp>
      <p:sp>
        <p:nvSpPr>
          <p:cNvPr id="9" name="closing Demo login label"/>
          <p:cNvSpPr txBox="1"/>
          <p:nvPr/>
        </p:nvSpPr>
        <p:spPr>
          <a:xfrm>
            <a:off x="548640" y="4526280"/>
            <a:ext cx="2011680" cy="548640"/>
          </a:xfrm>
          <a:prstGeom prst="rect">
            <a:avLst/>
          </a:prstGeom>
          <a:noFill/>
          <a:ln/>
        </p:spPr>
        <p:txBody>
          <a:bodyPr wrap="square" lIns="0" tIns="0" rIns="0" bIns="0" rtlCol="0" anchor="ctr"/>
          <a:lstStyle/>
          <a:p>
            <a:pPr indent="0" marL="0">
              <a:buNone/>
            </a:pPr>
            <a:r>
              <a:rPr lang="en-US" sz="1800" dirty="0">
                <a:solidFill>
                  <a:srgbClr val="A5B4FC"/>
                </a:solidFill>
              </a:rPr>
              <a:t>Demo login</a:t>
            </a:r>
            <a:endParaRPr lang="en-US" sz="1800" dirty="0"/>
          </a:p>
        </p:txBody>
      </p:sp>
      <p:sp>
        <p:nvSpPr>
          <p:cNvPr id="10" name="closing Demo login value"/>
          <p:cNvSpPr txBox="1"/>
          <p:nvPr/>
        </p:nvSpPr>
        <p:spPr>
          <a:xfrm>
            <a:off x="2651760" y="4526280"/>
            <a:ext cx="7772400" cy="548640"/>
          </a:xfrm>
          <a:prstGeom prst="rect">
            <a:avLst/>
          </a:prstGeom>
          <a:noFill/>
          <a:ln/>
        </p:spPr>
        <p:txBody>
          <a:bodyPr wrap="square" lIns="0" tIns="0" rIns="0" bIns="0" rtlCol="0" anchor="ctr"/>
          <a:lstStyle/>
          <a:p>
            <a:pPr indent="0" marL="0">
              <a:buNone/>
            </a:pPr>
            <a:r>
              <a:rPr lang="en-US" sz="2400" b="1" dirty="0">
                <a:solidFill>
                  <a:srgbClr val="FFFFFF"/>
                </a:solidFill>
              </a:rPr>
              <a:t>admin@novaworks.example  ·  Demo123!</a:t>
            </a:r>
            <a:endParaRPr lang="en-US" sz="2400" dirty="0"/>
          </a:p>
        </p:txBody>
      </p:sp>
      <p:sp>
        <p:nvSpPr>
          <p:cNvPr id="11" name="closing team"/>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600" dirty="0">
                <a:solidFill>
                  <a:srgbClr val="C7D2FE"/>
                </a:solidFill>
              </a:rPr>
              <a:t>Team Dual Byte · Muhammad Ali · Malik Muhammad Suleman Saleh</a:t>
            </a:r>
            <a:endParaRPr lang="en-US" sz="1600" dirty="0"/>
          </a:p>
        </p:txBody>
      </p:sp>
    </p:spTree>
  </p:cSld>
  <p:clrMapOvr>
    <a:masterClrMapping/>
  </p:clrMapOvr>
</p:sld>
</file>

<file path=ppt/theme/theme1.xml><?xml version="1.0" encoding="utf-8"?>
<a:theme xmlns:a="http://schemas.openxmlformats.org/drawingml/2006/main" name="Dual Byte NovaWorks">
  <a:themeElements>
    <a:clrScheme name="Dual Byte NovaWorks">
      <a:dk1>
        <a:srgbClr val="0F172A"/>
      </a:dk1>
      <a:lt1>
        <a:srgbClr val="FFFFFF"/>
      </a:lt1>
      <a:dk2>
        <a:srgbClr val="1E1B4B"/>
      </a:dk2>
      <a:lt2>
        <a:srgbClr val="F1F5F9"/>
      </a:lt2>
      <a:accent1>
        <a:srgbClr val="4F46E5"/>
      </a:accent1>
      <a:accent2>
        <a:srgbClr val="0D9488"/>
      </a:accent2>
      <a:accent3>
        <a:srgbClr val="D97706"/>
      </a:accent3>
      <a:accent4>
        <a:srgbClr val="16A34A"/>
      </a:accent4>
      <a:accent5>
        <a:srgbClr val="DC2626"/>
      </a:accent5>
      <a:accent6>
        <a:srgbClr val="64748B"/>
      </a:accent6>
      <a:hlink>
        <a:srgbClr val="4F46E5"/>
      </a:hlink>
      <a:folHlink>
        <a:srgbClr val="7C3AED"/>
      </a:folHlink>
    </a:clrScheme>
    <a:fontScheme name="Dual Byte NovaWork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Dual Byte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NovaWorks AI Project Manager</dc:title>
  <dc:subject>PptxGenJS Presentation</dc:subject>
  <dc:creator>Team Dual Byte</dc:creator>
  <cp:lastModifiedBy>Team Dual Byte</cp:lastModifiedBy>
  <cp:revision>1</cp:revision>
  <dcterms:created xsi:type="dcterms:W3CDTF">2026-10-07T08:22:09Z</dcterms:created>
  <dcterms:modified xsi:type="dcterms:W3CDTF">2026-10-07T08:22:09Z</dcterms:modified>
</cp:coreProperties>
</file>